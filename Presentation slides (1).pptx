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15" r:id="rId1"/>
    <p:sldMasterId id="2147483927" r:id="rId2"/>
    <p:sldMasterId id="2147483957" r:id="rId3"/>
    <p:sldMasterId id="2147483981" r:id="rId4"/>
  </p:sldMasterIdLst>
  <p:notesMasterIdLst>
    <p:notesMasterId r:id="rId20"/>
  </p:notesMasterIdLst>
  <p:sldIdLst>
    <p:sldId id="256" r:id="rId5"/>
    <p:sldId id="257" r:id="rId6"/>
    <p:sldId id="270" r:id="rId7"/>
    <p:sldId id="258" r:id="rId8"/>
    <p:sldId id="271" r:id="rId9"/>
    <p:sldId id="260" r:id="rId10"/>
    <p:sldId id="261" r:id="rId11"/>
    <p:sldId id="262" r:id="rId12"/>
    <p:sldId id="263" r:id="rId13"/>
    <p:sldId id="264" r:id="rId14"/>
    <p:sldId id="272" r:id="rId15"/>
    <p:sldId id="273" r:id="rId16"/>
    <p:sldId id="265" r:id="rId17"/>
    <p:sldId id="266" r:id="rId18"/>
    <p:sldId id="267"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9" d="100"/>
          <a:sy n="69" d="100"/>
        </p:scale>
        <p:origin x="141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5F51BD-1F50-4085-88BB-FC77D0072531}" type="datetimeFigureOut">
              <a:rPr lang="en-US" smtClean="0"/>
              <a:t>5/8/2025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59AC94-D1A1-4CCB-BE24-FF63484DAE51}" type="slidenum">
              <a:rPr lang="en-US" smtClean="0"/>
              <a:t>‹#›</a:t>
            </a:fld>
            <a:endParaRPr lang="en-US"/>
          </a:p>
        </p:txBody>
      </p:sp>
    </p:spTree>
    <p:extLst>
      <p:ext uri="{BB962C8B-B14F-4D97-AF65-F5344CB8AC3E}">
        <p14:creationId xmlns:p14="http://schemas.microsoft.com/office/powerpoint/2010/main" val="757411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859AC94-D1A1-4CCB-BE24-FF63484DAE51}" type="slidenum">
              <a:rPr lang="en-US" smtClean="0"/>
              <a:t>2</a:t>
            </a:fld>
            <a:endParaRPr lang="en-US"/>
          </a:p>
        </p:txBody>
      </p:sp>
    </p:spTree>
    <p:extLst>
      <p:ext uri="{BB962C8B-B14F-4D97-AF65-F5344CB8AC3E}">
        <p14:creationId xmlns:p14="http://schemas.microsoft.com/office/powerpoint/2010/main" val="3017957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9468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8895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9033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2260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5353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42232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47826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684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110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6187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41452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31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20205795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1519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3177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02971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62472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84148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64711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71642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26301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50817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7425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20900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19156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23616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2570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37967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23740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80626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942603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67210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377100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70134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48830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5/8/2025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82911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835208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49975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47902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595097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26567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2195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37716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57261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5518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95972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5/8/2025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20902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70530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474335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02046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079233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922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theme" Target="../theme/theme4.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5/8/2025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19016693"/>
      </p:ext>
    </p:extLst>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 id="2147483994"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5/8/2025</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96842639"/>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 id="2147483939" r:id="rId12"/>
    <p:sldLayoutId id="2147483940" r:id="rId13"/>
    <p:sldLayoutId id="2147483941" r:id="rId14"/>
    <p:sldLayoutId id="2147483942" r:id="rId15"/>
    <p:sldLayoutId id="2147483943" r:id="rId16"/>
    <p:sldLayoutId id="2147483944"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5/8/2025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6144833"/>
      </p:ext>
    </p:extLst>
  </p:cSld>
  <p:clrMap bg1="lt1" tx1="dk1" bg2="lt2" tx2="dk2" accent1="accent1" accent2="accent2" accent3="accent3" accent4="accent4" accent5="accent5" accent6="accent6" hlink="hlink" folHlink="folHlink"/>
  <p:sldLayoutIdLst>
    <p:sldLayoutId id="2147483958" r:id="rId1"/>
    <p:sldLayoutId id="2147483959" r:id="rId2"/>
    <p:sldLayoutId id="2147483960" r:id="rId3"/>
    <p:sldLayoutId id="2147483961" r:id="rId4"/>
    <p:sldLayoutId id="2147483962" r:id="rId5"/>
    <p:sldLayoutId id="2147483963" r:id="rId6"/>
    <p:sldLayoutId id="2147483964" r:id="rId7"/>
    <p:sldLayoutId id="2147483965" r:id="rId8"/>
    <p:sldLayoutId id="2147483966" r:id="rId9"/>
    <p:sldLayoutId id="2147483967" r:id="rId10"/>
    <p:sldLayoutId id="214748396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5/8/2025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3335028"/>
      </p:ext>
    </p:extLst>
  </p:cSld>
  <p:clrMap bg1="lt1" tx1="dk1" bg2="lt2" tx2="dk2" accent1="accent1" accent2="accent2" accent3="accent3" accent4="accent4" accent5="accent5" accent6="accent6" hlink="hlink" folHlink="folHlink"/>
  <p:sldLayoutIdLst>
    <p:sldLayoutId id="2147483982" r:id="rId1"/>
    <p:sldLayoutId id="2147483983" r:id="rId2"/>
    <p:sldLayoutId id="2147483984" r:id="rId3"/>
    <p:sldLayoutId id="2147483985" r:id="rId4"/>
    <p:sldLayoutId id="2147483986" r:id="rId5"/>
    <p:sldLayoutId id="2147483987" r:id="rId6"/>
    <p:sldLayoutId id="2147483988" r:id="rId7"/>
    <p:sldLayoutId id="2147483989" r:id="rId8"/>
    <p:sldLayoutId id="2147483990" r:id="rId9"/>
    <p:sldLayoutId id="2147483991" r:id="rId10"/>
    <p:sldLayoutId id="2147483992" r:id="rId11"/>
    <p:sldLayoutId id="2147483993"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1208" y="0"/>
            <a:ext cx="7519555" cy="3006436"/>
          </a:xfrm>
        </p:spPr>
        <p:txBody>
          <a:bodyPr>
            <a:noAutofit/>
          </a:bodyPr>
          <a:lstStyle/>
          <a:p>
            <a:r>
              <a:rPr sz="3600" b="1" dirty="0">
                <a:latin typeface="Times New Roman" panose="02020603050405020304" pitchFamily="18" charset="0"/>
                <a:cs typeface="Times New Roman" panose="02020603050405020304" pitchFamily="18" charset="0"/>
              </a:rPr>
              <a:t>Assessing the Adoption of Integrated Pest Management Strategies Among Smallholder Tea Farmers in Kiambaa Sub County</a:t>
            </a:r>
          </a:p>
        </p:txBody>
      </p:sp>
      <p:sp>
        <p:nvSpPr>
          <p:cNvPr id="3" name="Content Placeholder 2"/>
          <p:cNvSpPr>
            <a:spLocks noGrp="1"/>
          </p:cNvSpPr>
          <p:nvPr>
            <p:ph idx="1"/>
          </p:nvPr>
        </p:nvSpPr>
        <p:spPr>
          <a:xfrm>
            <a:off x="1485900" y="3006436"/>
            <a:ext cx="6172200" cy="2369128"/>
          </a:xfrm>
        </p:spPr>
        <p:txBody>
          <a:bodyPr>
            <a:normAutofit/>
          </a:bodyPr>
          <a:lstStyle/>
          <a:p>
            <a:r>
              <a:rPr dirty="0">
                <a:latin typeface="Times New Roman" panose="02020603050405020304" pitchFamily="18" charset="0"/>
                <a:cs typeface="Times New Roman" panose="02020603050405020304" pitchFamily="18" charset="0"/>
              </a:rPr>
              <a:t>Research Project Presentation</a:t>
            </a:r>
          </a:p>
          <a:p>
            <a:r>
              <a:rPr dirty="0">
                <a:latin typeface="Times New Roman" panose="02020603050405020304" pitchFamily="18" charset="0"/>
                <a:cs typeface="Times New Roman" panose="02020603050405020304" pitchFamily="18" charset="0"/>
              </a:rPr>
              <a:t>Gitonga Cindy Mukami</a:t>
            </a:r>
          </a:p>
          <a:p>
            <a:r>
              <a:rPr dirty="0">
                <a:latin typeface="Times New Roman" panose="02020603050405020304" pitchFamily="18" charset="0"/>
                <a:cs typeface="Times New Roman" panose="02020603050405020304" pitchFamily="18" charset="0"/>
              </a:rPr>
              <a:t>Jomo Kenyatta University of Agriculture and Technology</a:t>
            </a:r>
          </a:p>
          <a:p>
            <a:r>
              <a:rPr lang="en-US" dirty="0" smtClean="0">
                <a:latin typeface="Times New Roman" panose="02020603050405020304" pitchFamily="18" charset="0"/>
                <a:cs typeface="Times New Roman" panose="02020603050405020304" pitchFamily="18" charset="0"/>
              </a:rPr>
              <a:t>8</a:t>
            </a:r>
            <a:r>
              <a:rPr lang="en-US" baseline="30000" dirty="0" smtClean="0">
                <a:latin typeface="Times New Roman" panose="02020603050405020304" pitchFamily="18" charset="0"/>
                <a:cs typeface="Times New Roman" panose="02020603050405020304" pitchFamily="18" charset="0"/>
              </a:rPr>
              <a:t>th</a:t>
            </a:r>
            <a:r>
              <a:rPr lang="en-US" dirty="0" smtClean="0">
                <a:latin typeface="Times New Roman" panose="02020603050405020304" pitchFamily="18" charset="0"/>
                <a:cs typeface="Times New Roman" panose="02020603050405020304" pitchFamily="18" charset="0"/>
              </a:rPr>
              <a:t> May </a:t>
            </a:r>
            <a:r>
              <a:rPr lang="en-US" dirty="0">
                <a:latin typeface="Times New Roman" panose="02020603050405020304" pitchFamily="18" charset="0"/>
                <a:cs typeface="Times New Roman" panose="02020603050405020304" pitchFamily="18" charset="0"/>
              </a:rPr>
              <a:t>2025</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0756" y="0"/>
            <a:ext cx="5074226" cy="928255"/>
          </a:xfrm>
        </p:spPr>
        <p:txBody>
          <a:bodyPr>
            <a:normAutofit/>
          </a:bodyPr>
          <a:lstStyle/>
          <a:p>
            <a:r>
              <a:rPr b="1" dirty="0">
                <a:latin typeface="Bell MT" panose="02020503060305020303" pitchFamily="18" charset="0"/>
                <a:cs typeface="Times New Roman" panose="02020603050405020304" pitchFamily="18" charset="0"/>
              </a:rPr>
              <a:t>Introduction</a:t>
            </a:r>
          </a:p>
        </p:txBody>
      </p:sp>
      <p:sp>
        <p:nvSpPr>
          <p:cNvPr id="3" name="Content Placeholder 2"/>
          <p:cNvSpPr>
            <a:spLocks noGrp="1"/>
          </p:cNvSpPr>
          <p:nvPr>
            <p:ph idx="1"/>
          </p:nvPr>
        </p:nvSpPr>
        <p:spPr>
          <a:xfrm>
            <a:off x="1600199" y="928254"/>
            <a:ext cx="6601692" cy="5292437"/>
          </a:xfrm>
        </p:spPr>
        <p:txBody>
          <a:bodyPr>
            <a:normAutofit fontScale="92500"/>
          </a:bodyPr>
          <a:lstStyle/>
          <a:p>
            <a:r>
              <a:rPr dirty="0">
                <a:latin typeface="Times New Roman" panose="02020603050405020304" pitchFamily="18" charset="0"/>
                <a:cs typeface="Times New Roman" panose="02020603050405020304" pitchFamily="18" charset="0"/>
              </a:rPr>
              <a:t>- Agriculture is a key sector in Kenya’s economy, contributing significantly to</a:t>
            </a:r>
            <a:r>
              <a:rPr lang="en-GB" dirty="0">
                <a:latin typeface="Times New Roman" panose="02020603050405020304" pitchFamily="18" charset="0"/>
                <a:cs typeface="Times New Roman" panose="02020603050405020304" pitchFamily="18" charset="0"/>
              </a:rPr>
              <a:t> about 21%</a:t>
            </a:r>
            <a:r>
              <a:rPr dirty="0">
                <a:latin typeface="Times New Roman" panose="02020603050405020304" pitchFamily="18" charset="0"/>
                <a:cs typeface="Times New Roman" panose="02020603050405020304" pitchFamily="18" charset="0"/>
              </a:rPr>
              <a:t> GDP and employment.</a:t>
            </a:r>
          </a:p>
          <a:p>
            <a:r>
              <a:rPr dirty="0">
                <a:latin typeface="Times New Roman" panose="02020603050405020304" pitchFamily="18" charset="0"/>
                <a:cs typeface="Times New Roman" panose="02020603050405020304" pitchFamily="18" charset="0"/>
              </a:rPr>
              <a:t>- Tea farming is a major cash crop, supporting millions of livelihoods.</a:t>
            </a:r>
          </a:p>
          <a:p>
            <a:r>
              <a:rPr dirty="0">
                <a:latin typeface="Times New Roman" panose="02020603050405020304" pitchFamily="18" charset="0"/>
                <a:cs typeface="Times New Roman" panose="02020603050405020304" pitchFamily="18" charset="0"/>
              </a:rPr>
              <a:t>- Pests pose a serious threat to tea production, leading to reduced</a:t>
            </a:r>
            <a:r>
              <a:rPr lang="en-US" dirty="0">
                <a:latin typeface="Times New Roman" panose="02020603050405020304" pitchFamily="18" charset="0"/>
                <a:cs typeface="Times New Roman" panose="02020603050405020304" pitchFamily="18" charset="0"/>
              </a:rPr>
              <a:t> quantity and quality of</a:t>
            </a:r>
            <a:r>
              <a:rPr dirty="0">
                <a:latin typeface="Times New Roman" panose="02020603050405020304" pitchFamily="18" charset="0"/>
                <a:cs typeface="Times New Roman" panose="02020603050405020304" pitchFamily="18" charset="0"/>
              </a:rPr>
              <a:t> yields and economic losses.</a:t>
            </a:r>
          </a:p>
          <a:p>
            <a:r>
              <a:rPr dirty="0">
                <a:latin typeface="Times New Roman" panose="02020603050405020304" pitchFamily="18" charset="0"/>
                <a:cs typeface="Times New Roman" panose="02020603050405020304" pitchFamily="18" charset="0"/>
              </a:rPr>
              <a:t>- Integrated Pest Management (IPM) is a sustainable alternative to chemical pesticides, but its adoption remains low among smallholder farmers.</a:t>
            </a:r>
          </a:p>
          <a:p>
            <a:r>
              <a:rPr dirty="0">
                <a:latin typeface="Times New Roman" panose="02020603050405020304" pitchFamily="18" charset="0"/>
                <a:cs typeface="Times New Roman" panose="02020603050405020304" pitchFamily="18" charset="0"/>
              </a:rPr>
              <a:t>- Understanding the factors affecting IPM adoption is crucial for improving tea farming practices.</a:t>
            </a:r>
            <a:endParaRPr lang="en-US"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5345" y="138545"/>
            <a:ext cx="6802582" cy="872837"/>
          </a:xfrm>
        </p:spPr>
        <p:txBody>
          <a:bodyPr>
            <a:noAutofit/>
          </a:bodyPr>
          <a:lstStyle/>
          <a:p>
            <a:r>
              <a:rPr lang="en-US" sz="3200" b="1" dirty="0">
                <a:latin typeface="Times New Roman" panose="02020603050405020304" pitchFamily="18" charset="0"/>
                <a:cs typeface="Times New Roman" panose="02020603050405020304" pitchFamily="18" charset="0"/>
              </a:rPr>
              <a:t>Integrated Pest Management practices</a:t>
            </a:r>
          </a:p>
        </p:txBody>
      </p:sp>
      <p:sp>
        <p:nvSpPr>
          <p:cNvPr id="7" name="AutoShape 8" descr="Integrated Pest Management: Harness 3 Extraordinary Advantages In Mittimind  Farms"/>
          <p:cNvSpPr>
            <a:spLocks noGrp="1" noChangeAspect="1" noChangeArrowheads="1"/>
          </p:cNvSpPr>
          <p:nvPr>
            <p:ph sz="half" idx="1"/>
          </p:nvPr>
        </p:nvSpPr>
        <p:spPr bwMode="auto">
          <a:xfrm>
            <a:off x="1763317" y="4521995"/>
            <a:ext cx="2474119" cy="102155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rtlCol="0" anchor="t" anchorCtr="0" compatLnSpc="1">
            <a:prstTxWarp prst="textNoShape">
              <a:avLst/>
            </a:prstTxWarp>
            <a:normAutofit/>
          </a:bodyPr>
          <a:lstStyle/>
          <a:p>
            <a:pPr marL="0" indent="0">
              <a:buNone/>
            </a:pPr>
            <a:endParaRPr lang="en-US" dirty="0"/>
          </a:p>
          <a:p>
            <a:pPr marL="0" indent="0">
              <a:buNone/>
            </a:pPr>
            <a:endParaRPr lang="en-US" dirty="0"/>
          </a:p>
          <a:p>
            <a:pPr marL="0" indent="0">
              <a:buNone/>
            </a:pPr>
            <a:endParaRPr lang="en-US" dirty="0"/>
          </a:p>
        </p:txBody>
      </p:sp>
      <p:pic>
        <p:nvPicPr>
          <p:cNvPr id="11" name="Content Placeholder 10"/>
          <p:cNvPicPr>
            <a:picLocks noGrp="1" noChangeAspect="1"/>
          </p:cNvPicPr>
          <p:nvPr>
            <p:ph sz="half" idx="2"/>
          </p:nvPr>
        </p:nvPicPr>
        <p:blipFill>
          <a:blip r:embed="rId2"/>
          <a:stretch>
            <a:fillRect/>
          </a:stretch>
        </p:blipFill>
        <p:spPr>
          <a:xfrm>
            <a:off x="5015345" y="1233056"/>
            <a:ext cx="3948546" cy="4585853"/>
          </a:xfrm>
          <a:prstGeom prst="rect">
            <a:avLst/>
          </a:prstGeom>
        </p:spPr>
      </p:pic>
      <p:pic>
        <p:nvPicPr>
          <p:cNvPr id="1034" name="Picture 10" descr="Integrated Pest Management and Agriculture | Taro Pum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510" y="1233056"/>
            <a:ext cx="4502726" cy="4807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3348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1927" y="166256"/>
            <a:ext cx="6774873" cy="595744"/>
          </a:xfrm>
        </p:spPr>
        <p:txBody>
          <a:bodyPr>
            <a:normAutofit fontScale="90000"/>
          </a:bodyPr>
          <a:lstStyle/>
          <a:p>
            <a:r>
              <a:rPr b="1" dirty="0">
                <a:latin typeface="Bell MT" panose="02020503060305020303" pitchFamily="18" charset="0"/>
              </a:rPr>
              <a:t>Problem Statement</a:t>
            </a:r>
          </a:p>
        </p:txBody>
      </p:sp>
      <p:sp>
        <p:nvSpPr>
          <p:cNvPr id="3" name="Content Placeholder 2"/>
          <p:cNvSpPr>
            <a:spLocks noGrp="1"/>
          </p:cNvSpPr>
          <p:nvPr>
            <p:ph idx="1"/>
          </p:nvPr>
        </p:nvSpPr>
        <p:spPr>
          <a:xfrm>
            <a:off x="1205345" y="1205346"/>
            <a:ext cx="7481455" cy="5126182"/>
          </a:xfrm>
        </p:spPr>
        <p:txBody>
          <a:bodyPr>
            <a:normAutofit/>
          </a:bodyPr>
          <a:lstStyle/>
          <a:p>
            <a:r>
              <a:rPr sz="2000" dirty="0" smtClean="0">
                <a:latin typeface="Times New Roman" panose="02020603050405020304" pitchFamily="18" charset="0"/>
                <a:cs typeface="Times New Roman" panose="02020603050405020304" pitchFamily="18" charset="0"/>
              </a:rPr>
              <a:t>Despite </a:t>
            </a:r>
            <a:r>
              <a:rPr sz="2000" dirty="0">
                <a:latin typeface="Times New Roman" panose="02020603050405020304" pitchFamily="18" charset="0"/>
                <a:cs typeface="Times New Roman" panose="02020603050405020304" pitchFamily="18" charset="0"/>
              </a:rPr>
              <a:t>the benefits of IPM, its adoption among smallholder tea farmers in Kiambaa Sub County remains low.</a:t>
            </a:r>
          </a:p>
          <a:p>
            <a:r>
              <a:rPr sz="2000" dirty="0" smtClean="0">
                <a:latin typeface="Times New Roman" panose="02020603050405020304" pitchFamily="18" charset="0"/>
                <a:cs typeface="Times New Roman" panose="02020603050405020304" pitchFamily="18" charset="0"/>
              </a:rPr>
              <a:t>Heavy </a:t>
            </a:r>
            <a:r>
              <a:rPr sz="2000" dirty="0">
                <a:latin typeface="Times New Roman" panose="02020603050405020304" pitchFamily="18" charset="0"/>
                <a:cs typeface="Times New Roman" panose="02020603050405020304" pitchFamily="18" charset="0"/>
              </a:rPr>
              <a:t>reliance on chemical pesticides raises concerns about environmental sustainability and human health risks</a:t>
            </a:r>
            <a:r>
              <a:rPr lang="en-US" sz="2000" dirty="0">
                <a:latin typeface="Times New Roman" panose="02020603050405020304" pitchFamily="18" charset="0"/>
                <a:cs typeface="Times New Roman" panose="02020603050405020304" pitchFamily="18" charset="0"/>
              </a:rPr>
              <a:t> due to pesticide residues on produce after harvest</a:t>
            </a:r>
            <a:r>
              <a:rPr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Pesticide residues may lead to exports not fully meeting international market standards due to some non-tariff barriers like; sanitary and phytosanitary measures. </a:t>
            </a:r>
            <a:endParaRPr sz="2000" dirty="0">
              <a:latin typeface="Times New Roman" panose="02020603050405020304" pitchFamily="18" charset="0"/>
              <a:cs typeface="Times New Roman" panose="02020603050405020304" pitchFamily="18" charset="0"/>
            </a:endParaRPr>
          </a:p>
          <a:p>
            <a:r>
              <a:rPr sz="2000" dirty="0">
                <a:latin typeface="Times New Roman" panose="02020603050405020304" pitchFamily="18" charset="0"/>
                <a:cs typeface="Times New Roman" panose="02020603050405020304" pitchFamily="18" charset="0"/>
              </a:rPr>
              <a:t>- There is limited research on the socio-economic and institutional factors influencing IPM adoption.</a:t>
            </a:r>
          </a:p>
          <a:p>
            <a:r>
              <a:rPr sz="2000" dirty="0" smtClean="0">
                <a:latin typeface="Times New Roman" panose="02020603050405020304" pitchFamily="18" charset="0"/>
                <a:cs typeface="Times New Roman" panose="02020603050405020304" pitchFamily="18" charset="0"/>
              </a:rPr>
              <a:t>This </a:t>
            </a:r>
            <a:r>
              <a:rPr sz="2000" dirty="0">
                <a:latin typeface="Times New Roman" panose="02020603050405020304" pitchFamily="18" charset="0"/>
                <a:cs typeface="Times New Roman" panose="02020603050405020304" pitchFamily="18" charset="0"/>
              </a:rPr>
              <a:t>study seeks to bridge this gap by analyzing the key determinants affecting IPM uptake</a:t>
            </a:r>
            <a:r>
              <a:rPr lang="en-US" sz="2000" dirty="0"/>
              <a:t> </a:t>
            </a:r>
            <a:r>
              <a:rPr lang="en-US" sz="2000" dirty="0">
                <a:latin typeface="Times New Roman" panose="02020603050405020304" pitchFamily="18" charset="0"/>
                <a:cs typeface="Times New Roman" panose="02020603050405020304" pitchFamily="18" charset="0"/>
              </a:rPr>
              <a:t>among tea farmers.</a:t>
            </a:r>
          </a:p>
          <a:p>
            <a:endParaRPr lang="en-US" sz="2000" dirty="0"/>
          </a:p>
          <a:p>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365127"/>
            <a:ext cx="5619749" cy="1061892"/>
          </a:xfrm>
        </p:spPr>
        <p:txBody>
          <a:bodyPr>
            <a:noAutofit/>
          </a:bodyPr>
          <a:lstStyle/>
          <a:p>
            <a:r>
              <a:rPr lang="en-US" sz="4000" b="1" dirty="0">
                <a:latin typeface="Bell MT" panose="02020503060305020303" pitchFamily="18" charset="0"/>
                <a:cs typeface="Times New Roman" panose="02020603050405020304" pitchFamily="18" charset="0"/>
              </a:rPr>
              <a:t>Objectives of the Study</a:t>
            </a:r>
          </a:p>
        </p:txBody>
      </p:sp>
      <p:sp>
        <p:nvSpPr>
          <p:cNvPr id="3" name="Subtitle 2"/>
          <p:cNvSpPr>
            <a:spLocks noGrp="1"/>
          </p:cNvSpPr>
          <p:nvPr>
            <p:ph idx="1"/>
          </p:nvPr>
        </p:nvSpPr>
        <p:spPr>
          <a:xfrm>
            <a:off x="3103418" y="1427020"/>
            <a:ext cx="5411932" cy="3851562"/>
          </a:xfrm>
        </p:spPr>
        <p:txBody>
          <a:bodyPr>
            <a:normAutofit/>
          </a:bodyPr>
          <a:lstStyle/>
          <a:p>
            <a:r>
              <a:rPr lang="en-US" sz="2000" dirty="0">
                <a:latin typeface="Times New Roman" panose="02020603050405020304" pitchFamily="18" charset="0"/>
                <a:cs typeface="Times New Roman" panose="02020603050405020304" pitchFamily="18" charset="0"/>
              </a:rPr>
              <a:t>General objective: To investigate the level of adoption of IPM practices and the determinants of farmers’ decisions on IPM innovation adoption among smallholder farmers in Kiambaa Sub County.</a:t>
            </a:r>
          </a:p>
          <a:p>
            <a:r>
              <a:rPr lang="en-US" sz="2000" dirty="0">
                <a:latin typeface="Times New Roman" panose="02020603050405020304" pitchFamily="18" charset="0"/>
                <a:cs typeface="Times New Roman" panose="02020603050405020304" pitchFamily="18" charset="0"/>
              </a:rPr>
              <a:t>Specific Objectives:</a:t>
            </a:r>
          </a:p>
          <a:p>
            <a:r>
              <a:rPr lang="en-US" sz="2000" dirty="0">
                <a:latin typeface="Times New Roman" panose="02020603050405020304" pitchFamily="18" charset="0"/>
                <a:cs typeface="Times New Roman" panose="02020603050405020304" pitchFamily="18" charset="0"/>
              </a:rPr>
              <a:t>1. To identify the existing factors affecting the adoption of IPM practices among smallholder tea farmers.</a:t>
            </a:r>
          </a:p>
          <a:p>
            <a:r>
              <a:rPr lang="en-US" sz="2000" dirty="0">
                <a:latin typeface="Times New Roman" panose="02020603050405020304" pitchFamily="18" charset="0"/>
                <a:cs typeface="Times New Roman" panose="02020603050405020304" pitchFamily="18" charset="0"/>
              </a:rPr>
              <a:t>2. To examine the effect of institutional support mechanisms and socio-economic characteristics on the level of IPM adoption.</a:t>
            </a:r>
          </a:p>
          <a:p>
            <a:pPr marL="0" indent="0">
              <a:buNone/>
            </a:pPr>
            <a:endParaRPr lang="en-US" sz="2400" b="1" dirty="0">
              <a:latin typeface="Times New Roman" panose="02020603050405020304" pitchFamily="18" charset="0"/>
              <a:cs typeface="Times New Roman" panose="02020603050405020304" pitchFamily="18" charset="0"/>
            </a:endParaRPr>
          </a:p>
        </p:txBody>
      </p:sp>
      <p:sp>
        <p:nvSpPr>
          <p:cNvPr id="4" name="Rectangle 3"/>
          <p:cNvSpPr/>
          <p:nvPr/>
        </p:nvSpPr>
        <p:spPr>
          <a:xfrm>
            <a:off x="0" y="0"/>
            <a:ext cx="2466109"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0646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89564" y="365126"/>
            <a:ext cx="5425786" cy="992619"/>
          </a:xfrm>
        </p:spPr>
        <p:txBody>
          <a:bodyPr>
            <a:normAutofit/>
          </a:bodyPr>
          <a:lstStyle/>
          <a:p>
            <a:r>
              <a:rPr sz="4000" b="1" dirty="0">
                <a:latin typeface="Bell MT" panose="02020503060305020303" pitchFamily="18" charset="0"/>
              </a:rPr>
              <a:t>Research Hypotheses</a:t>
            </a:r>
          </a:p>
        </p:txBody>
      </p:sp>
      <p:sp>
        <p:nvSpPr>
          <p:cNvPr id="3" name="Content Placeholder 2"/>
          <p:cNvSpPr>
            <a:spLocks noGrp="1"/>
          </p:cNvSpPr>
          <p:nvPr>
            <p:ph idx="1"/>
          </p:nvPr>
        </p:nvSpPr>
        <p:spPr>
          <a:xfrm>
            <a:off x="2923310" y="1482435"/>
            <a:ext cx="5758294" cy="3893128"/>
          </a:xfrm>
        </p:spPr>
        <p:txBody>
          <a:bodyPr/>
          <a:lstStyle/>
          <a:p>
            <a:r>
              <a:rPr lang="en-GB" sz="2400" dirty="0" err="1">
                <a:latin typeface="Times New Roman" panose="02020603050405020304" pitchFamily="18" charset="0"/>
                <a:cs typeface="Times New Roman" panose="02020603050405020304" pitchFamily="18" charset="0"/>
              </a:rPr>
              <a:t>i</a:t>
            </a:r>
            <a:r>
              <a:rPr sz="2400" dirty="0">
                <a:latin typeface="Times New Roman" panose="02020603050405020304" pitchFamily="18" charset="0"/>
                <a:cs typeface="Times New Roman" panose="02020603050405020304" pitchFamily="18" charset="0"/>
              </a:rPr>
              <a:t>There are no existing factors significantly affecting the adoption of IPM practices.</a:t>
            </a:r>
          </a:p>
          <a:p>
            <a:r>
              <a:rPr lang="en-GB" sz="2400" dirty="0">
                <a:latin typeface="Times New Roman" panose="02020603050405020304" pitchFamily="18" charset="0"/>
                <a:cs typeface="Times New Roman" panose="02020603050405020304" pitchFamily="18" charset="0"/>
              </a:rPr>
              <a:t>ii</a:t>
            </a:r>
            <a:r>
              <a:rPr sz="2400" dirty="0">
                <a:latin typeface="Times New Roman" panose="02020603050405020304" pitchFamily="18" charset="0"/>
                <a:cs typeface="Times New Roman" panose="02020603050405020304" pitchFamily="18" charset="0"/>
              </a:rPr>
              <a:t> There is no significant relationship between institutional support, socio-economic characteristics, and the level of IPM adoption.</a:t>
            </a:r>
          </a:p>
        </p:txBody>
      </p:sp>
      <p:sp>
        <p:nvSpPr>
          <p:cNvPr id="4" name="Rectangle 3"/>
          <p:cNvSpPr/>
          <p:nvPr/>
        </p:nvSpPr>
        <p:spPr>
          <a:xfrm>
            <a:off x="-1" y="0"/>
            <a:ext cx="2410691" cy="685799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3165" y="471055"/>
            <a:ext cx="7273636" cy="751061"/>
          </a:xfrm>
        </p:spPr>
        <p:txBody>
          <a:bodyPr>
            <a:normAutofit/>
          </a:bodyPr>
          <a:lstStyle/>
          <a:p>
            <a:r>
              <a:rPr sz="4400" b="1" dirty="0">
                <a:latin typeface="Bell MT" panose="02020503060305020303" pitchFamily="18" charset="0"/>
              </a:rPr>
              <a:t>Conceptual Framework</a:t>
            </a:r>
          </a:p>
        </p:txBody>
      </p:sp>
      <p:sp>
        <p:nvSpPr>
          <p:cNvPr id="3" name="Content Placeholder 2"/>
          <p:cNvSpPr>
            <a:spLocks noGrp="1"/>
          </p:cNvSpPr>
          <p:nvPr>
            <p:ph idx="1"/>
          </p:nvPr>
        </p:nvSpPr>
        <p:spPr>
          <a:xfrm>
            <a:off x="748361" y="1745672"/>
            <a:ext cx="8063129" cy="4396047"/>
          </a:xfrm>
        </p:spPr>
        <p:txBody>
          <a:bodyPr/>
          <a:lstStyle/>
          <a:p>
            <a:pPr lvl="2"/>
            <a:r>
              <a:rPr lang="en-US" dirty="0"/>
              <a:t>.</a:t>
            </a:r>
            <a:endParaRPr dirty="0"/>
          </a:p>
        </p:txBody>
      </p:sp>
      <p:sp>
        <p:nvSpPr>
          <p:cNvPr id="4" name="Rectangle 1"/>
          <p:cNvSpPr>
            <a:spLocks noChangeArrowheads="1"/>
          </p:cNvSpPr>
          <p:nvPr/>
        </p:nvSpPr>
        <p:spPr bwMode="auto">
          <a:xfrm>
            <a:off x="1290636" y="1745673"/>
            <a:ext cx="2519364" cy="3872490"/>
          </a:xfrm>
          <a:prstGeom prst="rect">
            <a:avLst/>
          </a:prstGeom>
          <a:solidFill>
            <a:srgbClr val="FFFFFF"/>
          </a:solidFill>
          <a:ln w="12700">
            <a:solidFill>
              <a:srgbClr val="1F4D78"/>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Independent Variables: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Access to extension services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Farmer cooperative membership</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Access to credit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Knowledge and awareness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Socio-economic factors: Farm income.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6386944" y="1745673"/>
            <a:ext cx="2299856" cy="2895600"/>
          </a:xfrm>
          <a:prstGeom prst="rect">
            <a:avLst/>
          </a:prstGeom>
          <a:solidFill>
            <a:srgbClr val="FFFFFF"/>
          </a:solidFill>
          <a:ln w="12700">
            <a:solidFill>
              <a:srgbClr val="1F4D78"/>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Dependent Variable: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adoption of integrated pest management practices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3"/>
          <p:cNvSpPr>
            <a:spLocks noChangeArrowheads="1"/>
          </p:cNvSpPr>
          <p:nvPr/>
        </p:nvSpPr>
        <p:spPr bwMode="auto">
          <a:xfrm>
            <a:off x="4390698" y="5167745"/>
            <a:ext cx="1870364" cy="983499"/>
          </a:xfrm>
          <a:prstGeom prst="rect">
            <a:avLst/>
          </a:prstGeom>
          <a:solidFill>
            <a:srgbClr val="FFFFFF"/>
          </a:solidFill>
          <a:ln w="12700">
            <a:solidFill>
              <a:srgbClr val="1F4D78"/>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Government policies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cxnSp>
        <p:nvCxnSpPr>
          <p:cNvPr id="7" name="Straight Arrow Connector 6"/>
          <p:cNvCxnSpPr/>
          <p:nvPr/>
        </p:nvCxnSpPr>
        <p:spPr>
          <a:xfrm flipV="1">
            <a:off x="4110037" y="7903845"/>
            <a:ext cx="2514600" cy="190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5538787" y="7894320"/>
            <a:ext cx="0" cy="1781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10"/>
          <p:cNvSpPr>
            <a:spLocks noChangeArrowheads="1"/>
          </p:cNvSpPr>
          <p:nvPr/>
        </p:nvSpPr>
        <p:spPr bwMode="auto">
          <a:xfrm>
            <a:off x="1271587" y="2438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
            </a:r>
            <a:br>
              <a:rPr kumimoji="0" lang="en-US" altLang="en-US" sz="12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12" name="Straight Arrow Connector 11"/>
          <p:cNvCxnSpPr/>
          <p:nvPr/>
        </p:nvCxnSpPr>
        <p:spPr>
          <a:xfrm flipV="1">
            <a:off x="3810000" y="2784764"/>
            <a:ext cx="2576944" cy="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a:off x="5098472" y="2784765"/>
            <a:ext cx="0" cy="23829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7346" y="193964"/>
            <a:ext cx="6497782" cy="955963"/>
          </a:xfrm>
        </p:spPr>
        <p:txBody>
          <a:bodyPr/>
          <a:lstStyle/>
          <a:p>
            <a:r>
              <a:rPr b="1" dirty="0">
                <a:latin typeface="Bell MT" panose="02020503060305020303" pitchFamily="18" charset="0"/>
              </a:rPr>
              <a:t>Methodology</a:t>
            </a:r>
          </a:p>
        </p:txBody>
      </p:sp>
      <p:sp>
        <p:nvSpPr>
          <p:cNvPr id="3" name="Content Placeholder 2"/>
          <p:cNvSpPr>
            <a:spLocks noGrp="1"/>
          </p:cNvSpPr>
          <p:nvPr>
            <p:ph idx="1"/>
          </p:nvPr>
        </p:nvSpPr>
        <p:spPr>
          <a:xfrm>
            <a:off x="982133" y="1149927"/>
            <a:ext cx="7704667" cy="4973782"/>
          </a:xfrm>
        </p:spPr>
        <p:txBody>
          <a:bodyPr>
            <a:normAutofit/>
          </a:bodyPr>
          <a:lstStyle/>
          <a:p>
            <a:r>
              <a:rPr lang="en-US" sz="2000" dirty="0">
                <a:latin typeface="Times New Roman" panose="02020603050405020304" pitchFamily="18" charset="0"/>
                <a:cs typeface="Times New Roman" panose="02020603050405020304" pitchFamily="18" charset="0"/>
              </a:rPr>
              <a:t>Research design: A mixed-method approach combining both qualitative and quantitative analysis</a:t>
            </a:r>
            <a:endParaRPr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Study area: The study was conducted in Kiambaa Sub County, Kiambu County characterized by small holder farmers.</a:t>
            </a:r>
          </a:p>
          <a:p>
            <a:r>
              <a:rPr lang="en-US" sz="2000" dirty="0">
                <a:latin typeface="Times New Roman" panose="02020603050405020304" pitchFamily="18" charset="0"/>
                <a:cs typeface="Times New Roman" panose="02020603050405020304" pitchFamily="18" charset="0"/>
              </a:rPr>
              <a:t>Sample size:</a:t>
            </a:r>
            <a:r>
              <a:rPr sz="2000" dirty="0"/>
              <a:t> </a:t>
            </a:r>
            <a:r>
              <a:rPr sz="2000" dirty="0">
                <a:latin typeface="Times New Roman" panose="02020603050405020304" pitchFamily="18" charset="0"/>
                <a:cs typeface="Times New Roman" panose="02020603050405020304" pitchFamily="18" charset="0"/>
              </a:rPr>
              <a:t>232 smallholder tea farmers selected using stratified random sampling.</a:t>
            </a:r>
            <a:r>
              <a:rPr lang="en-US" sz="2000" dirty="0">
                <a:latin typeface="Times New Roman" panose="02020603050405020304" pitchFamily="18" charset="0"/>
                <a:cs typeface="Times New Roman" panose="02020603050405020304" pitchFamily="18" charset="0"/>
              </a:rPr>
              <a:t> Target population was smallholder tea farmers.</a:t>
            </a:r>
            <a:endParaRPr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Data collection methods:</a:t>
            </a:r>
            <a:r>
              <a:rPr sz="2000" dirty="0"/>
              <a:t> </a:t>
            </a:r>
            <a:r>
              <a:rPr lang="en-US" sz="2000" dirty="0">
                <a:latin typeface="Times New Roman" panose="02020603050405020304" pitchFamily="18" charset="0"/>
                <a:cs typeface="Times New Roman" panose="02020603050405020304" pitchFamily="18" charset="0"/>
              </a:rPr>
              <a:t>Structured questionnaires administered to smallholder tea farmers.</a:t>
            </a:r>
            <a:endParaRPr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Data analysis:</a:t>
            </a:r>
            <a:r>
              <a:rPr sz="2000" dirty="0"/>
              <a:t> </a:t>
            </a:r>
            <a:r>
              <a:rPr sz="2000" dirty="0">
                <a:latin typeface="Times New Roman" panose="02020603050405020304" pitchFamily="18" charset="0"/>
                <a:cs typeface="Times New Roman" panose="02020603050405020304" pitchFamily="18" charset="0"/>
              </a:rPr>
              <a:t>Descriptive statistics</a:t>
            </a:r>
            <a:r>
              <a:rPr lang="en-US" sz="2000" dirty="0">
                <a:latin typeface="Times New Roman" panose="02020603050405020304" pitchFamily="18" charset="0"/>
                <a:cs typeface="Times New Roman" panose="02020603050405020304" pitchFamily="18" charset="0"/>
              </a:rPr>
              <a:t> to summarize the respondents’ demographic characteristics</a:t>
            </a:r>
            <a:r>
              <a:rPr sz="2000" dirty="0">
                <a:latin typeface="Times New Roman" panose="02020603050405020304" pitchFamily="18" charset="0"/>
                <a:cs typeface="Times New Roman" panose="02020603050405020304" pitchFamily="18" charset="0"/>
              </a:rPr>
              <a:t> and Tobit regression to evaluate factors influencing IPM adoption</a:t>
            </a:r>
            <a:r>
              <a:rPr lang="en-US" sz="2000" dirty="0">
                <a:latin typeface="Times New Roman" panose="02020603050405020304" pitchFamily="18" charset="0"/>
                <a:cs typeface="Times New Roman" panose="02020603050405020304" pitchFamily="18" charset="0"/>
              </a:rPr>
              <a:t> because of its ability to handle censored data. Adoption was censored to account for non-adopters.</a:t>
            </a:r>
          </a:p>
          <a:p>
            <a:r>
              <a:rPr lang="en-US" sz="2000" dirty="0">
                <a:latin typeface="Times New Roman" panose="02020603050405020304" pitchFamily="18" charset="0"/>
                <a:cs typeface="Times New Roman" panose="02020603050405020304" pitchFamily="18" charset="0"/>
              </a:rPr>
              <a:t>Statistical software: SPSS AND STATA</a:t>
            </a:r>
          </a:p>
          <a:p>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9782" y="3"/>
            <a:ext cx="3103418" cy="360216"/>
          </a:xfrm>
        </p:spPr>
        <p:txBody>
          <a:bodyPr>
            <a:normAutofit fontScale="90000"/>
          </a:bodyPr>
          <a:lstStyle/>
          <a:p>
            <a:r>
              <a:rPr lang="en-US" b="1" dirty="0">
                <a:latin typeface="Times New Roman" panose="02020603050405020304" pitchFamily="18" charset="0"/>
                <a:cs typeface="Times New Roman" panose="02020603050405020304" pitchFamily="18" charset="0"/>
              </a:rPr>
              <a:t>Results</a:t>
            </a:r>
            <a:endParaRPr b="1" dirty="0">
              <a:latin typeface="Times New Roman" panose="02020603050405020304" pitchFamily="18" charset="0"/>
              <a:cs typeface="Times New Roman" panose="02020603050405020304" pitchFamily="18" charset="0"/>
            </a:endParaRPr>
          </a:p>
        </p:txBody>
      </p:sp>
      <p:sp>
        <p:nvSpPr>
          <p:cNvPr id="8" name="Text Placeholder 7"/>
          <p:cNvSpPr>
            <a:spLocks noGrp="1"/>
          </p:cNvSpPr>
          <p:nvPr>
            <p:ph type="body" sz="quarter" idx="13"/>
          </p:nvPr>
        </p:nvSpPr>
        <p:spPr>
          <a:xfrm>
            <a:off x="1113524" y="817418"/>
            <a:ext cx="7515992" cy="2092037"/>
          </a:xfrm>
        </p:spPr>
        <p:txBody>
          <a:bodyPr/>
          <a:lstStyle/>
          <a:p>
            <a:endParaRPr lang="en-US" dirty="0"/>
          </a:p>
        </p:txBody>
      </p:sp>
      <p:sp>
        <p:nvSpPr>
          <p:cNvPr id="7" name="Text Placeholder 6"/>
          <p:cNvSpPr>
            <a:spLocks noGrp="1"/>
          </p:cNvSpPr>
          <p:nvPr>
            <p:ph type="body" idx="1"/>
          </p:nvPr>
        </p:nvSpPr>
        <p:spPr>
          <a:xfrm>
            <a:off x="1113524" y="3103418"/>
            <a:ext cx="7515992" cy="2687782"/>
          </a:xfrm>
        </p:spPr>
        <p:txBody>
          <a:bodyPr/>
          <a:lstStyle/>
          <a:p>
            <a:r>
              <a:rPr lang="en-US" dirty="0"/>
              <a:t>.</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454525153"/>
              </p:ext>
            </p:extLst>
          </p:nvPr>
        </p:nvGraphicFramePr>
        <p:xfrm>
          <a:off x="0" y="3726874"/>
          <a:ext cx="9143860" cy="3131125"/>
        </p:xfrm>
        <a:graphic>
          <a:graphicData uri="http://schemas.openxmlformats.org/drawingml/2006/table">
            <a:tbl>
              <a:tblPr firstRow="1" firstCol="1" lastRow="1" bandRow="1">
                <a:tableStyleId>{5C22544A-7EE6-4342-B048-85BDC9FD1C3A}</a:tableStyleId>
              </a:tblPr>
              <a:tblGrid>
                <a:gridCol w="2338049">
                  <a:extLst>
                    <a:ext uri="{9D8B030D-6E8A-4147-A177-3AD203B41FA5}">
                      <a16:colId xmlns:a16="http://schemas.microsoft.com/office/drawing/2014/main" val="1105506740"/>
                    </a:ext>
                  </a:extLst>
                </a:gridCol>
                <a:gridCol w="1221385">
                  <a:extLst>
                    <a:ext uri="{9D8B030D-6E8A-4147-A177-3AD203B41FA5}">
                      <a16:colId xmlns:a16="http://schemas.microsoft.com/office/drawing/2014/main" val="532353253"/>
                    </a:ext>
                  </a:extLst>
                </a:gridCol>
                <a:gridCol w="1057138">
                  <a:extLst>
                    <a:ext uri="{9D8B030D-6E8A-4147-A177-3AD203B41FA5}">
                      <a16:colId xmlns:a16="http://schemas.microsoft.com/office/drawing/2014/main" val="2528105447"/>
                    </a:ext>
                  </a:extLst>
                </a:gridCol>
                <a:gridCol w="712108">
                  <a:extLst>
                    <a:ext uri="{9D8B030D-6E8A-4147-A177-3AD203B41FA5}">
                      <a16:colId xmlns:a16="http://schemas.microsoft.com/office/drawing/2014/main" val="3230620972"/>
                    </a:ext>
                  </a:extLst>
                </a:gridCol>
                <a:gridCol w="838876">
                  <a:extLst>
                    <a:ext uri="{9D8B030D-6E8A-4147-A177-3AD203B41FA5}">
                      <a16:colId xmlns:a16="http://schemas.microsoft.com/office/drawing/2014/main" val="4041922679"/>
                    </a:ext>
                  </a:extLst>
                </a:gridCol>
                <a:gridCol w="1488152">
                  <a:extLst>
                    <a:ext uri="{9D8B030D-6E8A-4147-A177-3AD203B41FA5}">
                      <a16:colId xmlns:a16="http://schemas.microsoft.com/office/drawing/2014/main" val="751966008"/>
                    </a:ext>
                  </a:extLst>
                </a:gridCol>
                <a:gridCol w="1488152">
                  <a:extLst>
                    <a:ext uri="{9D8B030D-6E8A-4147-A177-3AD203B41FA5}">
                      <a16:colId xmlns:a16="http://schemas.microsoft.com/office/drawing/2014/main" val="1222043755"/>
                    </a:ext>
                  </a:extLst>
                </a:gridCol>
              </a:tblGrid>
              <a:tr h="1095829">
                <a:tc>
                  <a:txBody>
                    <a:bodyPr/>
                    <a:lstStyle/>
                    <a:p>
                      <a:pPr algn="just">
                        <a:lnSpc>
                          <a:spcPct val="150000"/>
                        </a:lnSpc>
                        <a:spcAft>
                          <a:spcPts val="0"/>
                        </a:spcAft>
                      </a:pPr>
                      <a:r>
                        <a:rPr lang="en-US" sz="1000">
                          <a:effectLst/>
                        </a:rPr>
                        <a:t>Variable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Coefficient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dirty="0">
                          <a:effectLst/>
                        </a:rPr>
                        <a:t>Std. Err.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t-value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P&gt;/T/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95% Conf. Interval(lower bound)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95% Conf. Interval(upper bound)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23986204"/>
                  </a:ext>
                </a:extLst>
              </a:tr>
              <a:tr h="339216">
                <a:tc>
                  <a:txBody>
                    <a:bodyPr/>
                    <a:lstStyle/>
                    <a:p>
                      <a:pPr algn="just">
                        <a:lnSpc>
                          <a:spcPct val="150000"/>
                        </a:lnSpc>
                        <a:spcAft>
                          <a:spcPts val="0"/>
                        </a:spcAft>
                      </a:pPr>
                      <a:r>
                        <a:rPr lang="en-US" sz="1000">
                          <a:effectLst/>
                        </a:rPr>
                        <a:t>Awarenessofipm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dirty="0">
                          <a:effectLst/>
                        </a:rPr>
                        <a:t>2.547192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.3094957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8.23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1.93734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3.157044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69066314"/>
                  </a:ext>
                </a:extLst>
              </a:tr>
              <a:tr h="339216">
                <a:tc>
                  <a:txBody>
                    <a:bodyPr/>
                    <a:lstStyle/>
                    <a:p>
                      <a:pPr algn="just">
                        <a:lnSpc>
                          <a:spcPct val="150000"/>
                        </a:lnSpc>
                        <a:spcAft>
                          <a:spcPts val="0"/>
                        </a:spcAft>
                      </a:pPr>
                      <a:r>
                        <a:rPr lang="en-US" sz="1000">
                          <a:effectLst/>
                        </a:rPr>
                        <a:t>Farmincome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.0000211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4.45e-06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4.74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.0000123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.0000298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5978092"/>
                  </a:ext>
                </a:extLst>
              </a:tr>
              <a:tr h="339216">
                <a:tc>
                  <a:txBody>
                    <a:bodyPr/>
                    <a:lstStyle/>
                    <a:p>
                      <a:pPr algn="just">
                        <a:lnSpc>
                          <a:spcPct val="150000"/>
                        </a:lnSpc>
                        <a:spcAft>
                          <a:spcPts val="0"/>
                        </a:spcAft>
                      </a:pPr>
                      <a:r>
                        <a:rPr lang="en-US" sz="1000">
                          <a:effectLst/>
                        </a:rPr>
                        <a:t>creditaccess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.1196131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.3226882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0.37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0.7111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-.516234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.7554603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35039520"/>
                  </a:ext>
                </a:extLst>
              </a:tr>
              <a:tr h="339216">
                <a:tc>
                  <a:txBody>
                    <a:bodyPr/>
                    <a:lstStyle/>
                    <a:p>
                      <a:pPr algn="just">
                        <a:lnSpc>
                          <a:spcPct val="150000"/>
                        </a:lnSpc>
                        <a:spcAft>
                          <a:spcPts val="0"/>
                        </a:spcAft>
                      </a:pPr>
                      <a:r>
                        <a:rPr lang="en-US" sz="1000">
                          <a:effectLst/>
                        </a:rPr>
                        <a:t>cooperativemembership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dirty="0">
                          <a:effectLst/>
                        </a:rPr>
                        <a:t>.2233449</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.236045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0.95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0.345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-.2417745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.6884644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42587763"/>
                  </a:ext>
                </a:extLst>
              </a:tr>
              <a:tr h="339216">
                <a:tc>
                  <a:txBody>
                    <a:bodyPr/>
                    <a:lstStyle/>
                    <a:p>
                      <a:pPr algn="just">
                        <a:lnSpc>
                          <a:spcPct val="150000"/>
                        </a:lnSpc>
                        <a:spcAft>
                          <a:spcPts val="0"/>
                        </a:spcAft>
                      </a:pPr>
                      <a:r>
                        <a:rPr lang="en-US" sz="1000">
                          <a:effectLst/>
                        </a:rPr>
                        <a:t>Extensionvisits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.4694133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.1769983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2.65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0.009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.1206435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.8181831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3204797"/>
                  </a:ext>
                </a:extLst>
              </a:tr>
              <a:tr h="339216">
                <a:tc>
                  <a:txBody>
                    <a:bodyPr/>
                    <a:lstStyle/>
                    <a:p>
                      <a:pPr algn="just">
                        <a:lnSpc>
                          <a:spcPct val="150000"/>
                        </a:lnSpc>
                        <a:spcAft>
                          <a:spcPts val="0"/>
                        </a:spcAft>
                      </a:pPr>
                      <a:r>
                        <a:rPr lang="en-US" sz="1000">
                          <a:effectLst/>
                        </a:rPr>
                        <a:t>Constant(_cons)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-5.806633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.8941237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-6.49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0.000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-7.568476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dirty="0">
                          <a:effectLst/>
                        </a:rPr>
                        <a:t>-4.044789</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784063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413710420"/>
              </p:ext>
            </p:extLst>
          </p:nvPr>
        </p:nvGraphicFramePr>
        <p:xfrm>
          <a:off x="0" y="360214"/>
          <a:ext cx="9143999" cy="3248562"/>
        </p:xfrm>
        <a:graphic>
          <a:graphicData uri="http://schemas.openxmlformats.org/drawingml/2006/table">
            <a:tbl>
              <a:tblPr firstRow="1" firstCol="1" bandRow="1">
                <a:tableStyleId>{5C22544A-7EE6-4342-B048-85BDC9FD1C3A}</a:tableStyleId>
              </a:tblPr>
              <a:tblGrid>
                <a:gridCol w="2357682">
                  <a:extLst>
                    <a:ext uri="{9D8B030D-6E8A-4147-A177-3AD203B41FA5}">
                      <a16:colId xmlns:a16="http://schemas.microsoft.com/office/drawing/2014/main" val="895530301"/>
                    </a:ext>
                  </a:extLst>
                </a:gridCol>
                <a:gridCol w="2344242">
                  <a:extLst>
                    <a:ext uri="{9D8B030D-6E8A-4147-A177-3AD203B41FA5}">
                      <a16:colId xmlns:a16="http://schemas.microsoft.com/office/drawing/2014/main" val="2375174726"/>
                    </a:ext>
                  </a:extLst>
                </a:gridCol>
                <a:gridCol w="2028391">
                  <a:extLst>
                    <a:ext uri="{9D8B030D-6E8A-4147-A177-3AD203B41FA5}">
                      <a16:colId xmlns:a16="http://schemas.microsoft.com/office/drawing/2014/main" val="3305728325"/>
                    </a:ext>
                  </a:extLst>
                </a:gridCol>
                <a:gridCol w="2413684">
                  <a:extLst>
                    <a:ext uri="{9D8B030D-6E8A-4147-A177-3AD203B41FA5}">
                      <a16:colId xmlns:a16="http://schemas.microsoft.com/office/drawing/2014/main" val="2703844474"/>
                    </a:ext>
                  </a:extLst>
                </a:gridCol>
              </a:tblGrid>
              <a:tr h="222764">
                <a:tc>
                  <a:txBody>
                    <a:bodyPr/>
                    <a:lstStyle/>
                    <a:p>
                      <a:pPr algn="just">
                        <a:lnSpc>
                          <a:spcPct val="150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Frequency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Percent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Cumulative Percent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0594120"/>
                  </a:ext>
                </a:extLst>
              </a:tr>
              <a:tr h="222764">
                <a:tc>
                  <a:txBody>
                    <a:bodyPr/>
                    <a:lstStyle/>
                    <a:p>
                      <a:pPr algn="just">
                        <a:lnSpc>
                          <a:spcPct val="150000"/>
                        </a:lnSpc>
                        <a:spcAft>
                          <a:spcPts val="0"/>
                        </a:spcAft>
                      </a:pPr>
                      <a:r>
                        <a:rPr lang="en-US" sz="1000">
                          <a:effectLst/>
                        </a:rPr>
                        <a:t>Age  below 25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2330647"/>
                  </a:ext>
                </a:extLst>
              </a:tr>
              <a:tr h="222764">
                <a:tc>
                  <a:txBody>
                    <a:bodyPr/>
                    <a:lstStyle/>
                    <a:p>
                      <a:pPr algn="just">
                        <a:lnSpc>
                          <a:spcPct val="150000"/>
                        </a:lnSpc>
                        <a:spcAft>
                          <a:spcPts val="0"/>
                        </a:spcAft>
                      </a:pPr>
                      <a:r>
                        <a:rPr lang="en-US" sz="1000">
                          <a:effectLst/>
                        </a:rPr>
                        <a:t>         26-35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70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30.2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31.5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5123146"/>
                  </a:ext>
                </a:extLst>
              </a:tr>
              <a:tr h="276762">
                <a:tc>
                  <a:txBody>
                    <a:bodyPr/>
                    <a:lstStyle/>
                    <a:p>
                      <a:pPr algn="just">
                        <a:lnSpc>
                          <a:spcPct val="150000"/>
                        </a:lnSpc>
                        <a:spcAft>
                          <a:spcPts val="0"/>
                        </a:spcAft>
                      </a:pPr>
                      <a:r>
                        <a:rPr lang="en-US" sz="1000">
                          <a:effectLst/>
                        </a:rPr>
                        <a:t>         36-50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81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34.9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66.4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89586172"/>
                  </a:ext>
                </a:extLst>
              </a:tr>
              <a:tr h="222764">
                <a:tc>
                  <a:txBody>
                    <a:bodyPr/>
                    <a:lstStyle/>
                    <a:p>
                      <a:pPr algn="just">
                        <a:lnSpc>
                          <a:spcPct val="150000"/>
                        </a:lnSpc>
                        <a:spcAft>
                          <a:spcPts val="0"/>
                        </a:spcAft>
                      </a:pPr>
                      <a:r>
                        <a:rPr lang="en-US" sz="1000">
                          <a:effectLst/>
                        </a:rPr>
                        <a:t>         above 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78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33.6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609067"/>
                  </a:ext>
                </a:extLst>
              </a:tr>
              <a:tr h="222764">
                <a:tc>
                  <a:txBody>
                    <a:bodyPr/>
                    <a:lstStyle/>
                    <a:p>
                      <a:pPr algn="just">
                        <a:lnSpc>
                          <a:spcPct val="150000"/>
                        </a:lnSpc>
                        <a:spcAft>
                          <a:spcPts val="0"/>
                        </a:spcAft>
                      </a:pPr>
                      <a:r>
                        <a:rPr lang="en-US" sz="1000">
                          <a:effectLst/>
                        </a:rPr>
                        <a:t>         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232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9577202"/>
                  </a:ext>
                </a:extLst>
              </a:tr>
              <a:tr h="222764">
                <a:tc>
                  <a:txBody>
                    <a:bodyPr/>
                    <a:lstStyle/>
                    <a:p>
                      <a:pPr algn="just">
                        <a:lnSpc>
                          <a:spcPct val="150000"/>
                        </a:lnSpc>
                        <a:spcAft>
                          <a:spcPts val="0"/>
                        </a:spcAft>
                      </a:pPr>
                      <a:r>
                        <a:rPr lang="en-US" sz="1000">
                          <a:effectLst/>
                        </a:rPr>
                        <a:t>Gender Male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129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55.6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55.6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96833041"/>
                  </a:ext>
                </a:extLst>
              </a:tr>
              <a:tr h="222764">
                <a:tc>
                  <a:txBody>
                    <a:bodyPr/>
                    <a:lstStyle/>
                    <a:p>
                      <a:pPr algn="just">
                        <a:lnSpc>
                          <a:spcPct val="150000"/>
                        </a:lnSpc>
                        <a:spcAft>
                          <a:spcPts val="0"/>
                        </a:spcAft>
                      </a:pPr>
                      <a:r>
                        <a:rPr lang="en-US" sz="1000" dirty="0">
                          <a:effectLst/>
                        </a:rPr>
                        <a:t>           Female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44.4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84365791"/>
                  </a:ext>
                </a:extLst>
              </a:tr>
              <a:tr h="222764">
                <a:tc>
                  <a:txBody>
                    <a:bodyPr/>
                    <a:lstStyle/>
                    <a:p>
                      <a:pPr algn="just">
                        <a:lnSpc>
                          <a:spcPct val="150000"/>
                        </a:lnSpc>
                        <a:spcAft>
                          <a:spcPts val="0"/>
                        </a:spcAft>
                      </a:pPr>
                      <a:r>
                        <a:rPr lang="en-US" sz="1000">
                          <a:effectLst/>
                        </a:rPr>
                        <a:t>           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232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95568277"/>
                  </a:ext>
                </a:extLst>
              </a:tr>
              <a:tr h="222764">
                <a:tc>
                  <a:txBody>
                    <a:bodyPr/>
                    <a:lstStyle/>
                    <a:p>
                      <a:pPr algn="just">
                        <a:lnSpc>
                          <a:spcPct val="150000"/>
                        </a:lnSpc>
                        <a:spcAft>
                          <a:spcPts val="0"/>
                        </a:spcAft>
                      </a:pPr>
                      <a:r>
                        <a:rPr lang="en-US" sz="1000">
                          <a:effectLst/>
                        </a:rPr>
                        <a:t>Education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44930713"/>
                  </a:ext>
                </a:extLst>
              </a:tr>
              <a:tr h="222764">
                <a:tc>
                  <a:txBody>
                    <a:bodyPr/>
                    <a:lstStyle/>
                    <a:p>
                      <a:pPr algn="just">
                        <a:lnSpc>
                          <a:spcPct val="150000"/>
                        </a:lnSpc>
                        <a:spcAft>
                          <a:spcPts val="0"/>
                        </a:spcAft>
                      </a:pPr>
                      <a:r>
                        <a:rPr lang="en-US" sz="1000">
                          <a:effectLst/>
                        </a:rPr>
                        <a:t>          Tertiary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87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37.5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37.5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48786814"/>
                  </a:ext>
                </a:extLst>
              </a:tr>
              <a:tr h="222764">
                <a:tc>
                  <a:txBody>
                    <a:bodyPr/>
                    <a:lstStyle/>
                    <a:p>
                      <a:pPr algn="just">
                        <a:lnSpc>
                          <a:spcPct val="150000"/>
                        </a:lnSpc>
                        <a:spcAft>
                          <a:spcPts val="0"/>
                        </a:spcAft>
                      </a:pPr>
                      <a:r>
                        <a:rPr lang="en-US" sz="1000">
                          <a:effectLst/>
                        </a:rPr>
                        <a:t>          Secondary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91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39.2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76.7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3325015"/>
                  </a:ext>
                </a:extLst>
              </a:tr>
              <a:tr h="222764">
                <a:tc>
                  <a:txBody>
                    <a:bodyPr/>
                    <a:lstStyle/>
                    <a:p>
                      <a:pPr algn="just">
                        <a:lnSpc>
                          <a:spcPct val="150000"/>
                        </a:lnSpc>
                        <a:spcAft>
                          <a:spcPts val="0"/>
                        </a:spcAft>
                      </a:pPr>
                      <a:r>
                        <a:rPr lang="en-US" sz="1000">
                          <a:effectLst/>
                        </a:rPr>
                        <a:t>          Primary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54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23.3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83918779"/>
                  </a:ext>
                </a:extLst>
              </a:tr>
              <a:tr h="222764">
                <a:tc>
                  <a:txBody>
                    <a:bodyPr/>
                    <a:lstStyle/>
                    <a:p>
                      <a:pPr algn="just">
                        <a:lnSpc>
                          <a:spcPct val="150000"/>
                        </a:lnSpc>
                        <a:spcAft>
                          <a:spcPts val="0"/>
                        </a:spcAft>
                      </a:pPr>
                      <a:r>
                        <a:rPr lang="en-US" sz="1000">
                          <a:effectLst/>
                        </a:rPr>
                        <a:t>          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232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a:effectLst/>
                        </a:rPr>
                        <a:t>100.0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US" sz="10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367945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0"/>
            <a:ext cx="7704667" cy="692727"/>
          </a:xfrm>
        </p:spPr>
        <p:txBody>
          <a:bodyPr>
            <a:noAutofit/>
          </a:bodyPr>
          <a:lstStyle/>
          <a:p>
            <a:r>
              <a:rPr b="1" dirty="0">
                <a:latin typeface="Times New Roman" panose="02020603050405020304" pitchFamily="18" charset="0"/>
                <a:cs typeface="Times New Roman" panose="02020603050405020304" pitchFamily="18" charset="0"/>
              </a:rPr>
              <a:t>Key Findings</a:t>
            </a:r>
          </a:p>
        </p:txBody>
      </p:sp>
      <p:sp>
        <p:nvSpPr>
          <p:cNvPr id="3" name="Content Placeholder 2"/>
          <p:cNvSpPr>
            <a:spLocks noGrp="1"/>
          </p:cNvSpPr>
          <p:nvPr>
            <p:ph idx="1"/>
          </p:nvPr>
        </p:nvSpPr>
        <p:spPr>
          <a:xfrm>
            <a:off x="982133" y="789710"/>
            <a:ext cx="7704667" cy="5624945"/>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61.6% farmers have not adopted IPM., 32.2% have partially adopted IPM while only 5.2% have fully adopted IPM practices</a:t>
            </a:r>
            <a:r>
              <a:rPr lang="en-US" sz="1800" dirty="0" smtClean="0">
                <a:latin typeface="Times New Roman" panose="02020603050405020304" pitchFamily="18" charset="0"/>
                <a:cs typeface="Times New Roman" panose="02020603050405020304" pitchFamily="18" charset="0"/>
              </a:rPr>
              <a:t>. This is in agreement with a study by </a:t>
            </a:r>
            <a:r>
              <a:rPr lang="en-US" sz="1800" dirty="0">
                <a:latin typeface="Times New Roman" panose="02020603050405020304" pitchFamily="18" charset="0"/>
                <a:cs typeface="Times New Roman" panose="02020603050405020304" pitchFamily="18" charset="0"/>
              </a:rPr>
              <a:t>(Sadique Rahman, 2020</a:t>
            </a:r>
            <a:r>
              <a:rPr lang="en-US" sz="1800" dirty="0" smtClean="0">
                <a:latin typeface="Times New Roman" panose="02020603050405020304" pitchFamily="18" charset="0"/>
                <a:cs typeface="Times New Roman" panose="02020603050405020304" pitchFamily="18" charset="0"/>
              </a:rPr>
              <a:t>) on the determinants of adoption of IPM practices. </a:t>
            </a:r>
            <a:endParaRPr lang="en-US" sz="1800" dirty="0">
              <a:latin typeface="Times New Roman" panose="02020603050405020304" pitchFamily="18" charset="0"/>
              <a:cs typeface="Times New Roman" panose="02020603050405020304" pitchFamily="18" charset="0"/>
            </a:endParaRPr>
          </a:p>
          <a:p>
            <a:pPr marL="0" indent="0">
              <a:buNone/>
            </a:pPr>
            <a:r>
              <a:rPr lang="en-GB" sz="1800" dirty="0">
                <a:latin typeface="Times New Roman" panose="02020603050405020304" pitchFamily="18" charset="0"/>
                <a:cs typeface="Times New Roman" panose="02020603050405020304" pitchFamily="18" charset="0"/>
              </a:rPr>
              <a:t>Objective 1</a:t>
            </a:r>
          </a:p>
          <a:p>
            <a:pPr marL="0" indent="0">
              <a:buNone/>
            </a:pPr>
            <a:r>
              <a:rPr lang="en-US" sz="1800" dirty="0">
                <a:latin typeface="Times New Roman" panose="02020603050405020304" pitchFamily="18" charset="0"/>
                <a:cs typeface="Times New Roman" panose="02020603050405020304" pitchFamily="18" charset="0"/>
              </a:rPr>
              <a:t>Significant factors:</a:t>
            </a:r>
          </a:p>
          <a:p>
            <a:pPr marL="0" indent="0">
              <a:buNone/>
            </a:pPr>
            <a:r>
              <a:rPr lang="en-US" sz="1800" dirty="0">
                <a:latin typeface="Times New Roman" panose="02020603050405020304" pitchFamily="18" charset="0"/>
                <a:cs typeface="Times New Roman" panose="02020603050405020304" pitchFamily="18" charset="0"/>
              </a:rPr>
              <a:t> Awareness of IPM</a:t>
            </a:r>
            <a:r>
              <a:rPr lang="en-GB" sz="1800" dirty="0">
                <a:latin typeface="Times New Roman" panose="02020603050405020304" pitchFamily="18" charset="0"/>
                <a:cs typeface="Times New Roman" panose="02020603050405020304" pitchFamily="18" charset="0"/>
              </a:rPr>
              <a:t> coeff.2.5472 </a:t>
            </a:r>
            <a:r>
              <a:rPr lang="en-US" sz="1800" dirty="0">
                <a:latin typeface="Times New Roman" panose="02020603050405020304" pitchFamily="18" charset="0"/>
                <a:cs typeface="Times New Roman" panose="02020603050405020304" pitchFamily="18" charset="0"/>
              </a:rPr>
              <a:t>(P&lt;0.0001)- Farmers with more knowledge are more likely to adopt.</a:t>
            </a:r>
          </a:p>
          <a:p>
            <a:pPr marL="0" indent="0">
              <a:buNone/>
            </a:pPr>
            <a:r>
              <a:rPr lang="en-US" sz="1800" dirty="0">
                <a:latin typeface="Times New Roman" panose="02020603050405020304" pitchFamily="18" charset="0"/>
                <a:cs typeface="Times New Roman" panose="02020603050405020304" pitchFamily="18" charset="0"/>
              </a:rPr>
              <a:t>Farm Income</a:t>
            </a:r>
            <a:r>
              <a:rPr lang="en-GB" sz="1800" dirty="0">
                <a:latin typeface="Times New Roman" panose="02020603050405020304" pitchFamily="18" charset="0"/>
                <a:cs typeface="Times New Roman" panose="02020603050405020304" pitchFamily="18" charset="0"/>
              </a:rPr>
              <a:t> Coeff. 0.0000211</a:t>
            </a:r>
            <a:r>
              <a:rPr lang="en-US" sz="1800" dirty="0">
                <a:latin typeface="Times New Roman" panose="02020603050405020304" pitchFamily="18" charset="0"/>
                <a:cs typeface="Times New Roman" panose="02020603050405020304" pitchFamily="18" charset="0"/>
              </a:rPr>
              <a:t>(p &lt; 0.001) → Higher-income farmers adopt IPM at a greater rate.</a:t>
            </a:r>
          </a:p>
          <a:p>
            <a:pPr marL="0" indent="0">
              <a:buNone/>
            </a:pPr>
            <a:r>
              <a:rPr lang="en-US" sz="1800" dirty="0">
                <a:latin typeface="Times New Roman" panose="02020603050405020304" pitchFamily="18" charset="0"/>
                <a:cs typeface="Times New Roman" panose="02020603050405020304" pitchFamily="18" charset="0"/>
              </a:rPr>
              <a:t>Frequency of Extension Visits</a:t>
            </a:r>
            <a:r>
              <a:rPr lang="en-GB" sz="1800" dirty="0">
                <a:latin typeface="Times New Roman" panose="02020603050405020304" pitchFamily="18" charset="0"/>
                <a:cs typeface="Times New Roman" panose="02020603050405020304" pitchFamily="18" charset="0"/>
              </a:rPr>
              <a:t> Coeff.0.4694</a:t>
            </a:r>
            <a:r>
              <a:rPr lang="en-US" sz="1800" dirty="0">
                <a:latin typeface="Times New Roman" panose="02020603050405020304" pitchFamily="18" charset="0"/>
                <a:cs typeface="Times New Roman" panose="02020603050405020304" pitchFamily="18" charset="0"/>
              </a:rPr>
              <a:t> (p = 0.009) → Regular interactions with extension officers increase adoption.</a:t>
            </a:r>
          </a:p>
          <a:p>
            <a:pPr marL="0" indent="0">
              <a:buNone/>
            </a:pPr>
            <a:r>
              <a:rPr lang="en-US" sz="1800" dirty="0">
                <a:latin typeface="Times New Roman" panose="02020603050405020304" pitchFamily="18" charset="0"/>
                <a:cs typeface="Times New Roman" panose="02020603050405020304" pitchFamily="18" charset="0"/>
              </a:rPr>
              <a:t>Non-significant factors: </a:t>
            </a:r>
          </a:p>
          <a:p>
            <a:pPr marL="0" indent="0">
              <a:buNone/>
            </a:pPr>
            <a:r>
              <a:rPr lang="en-US" sz="1800" dirty="0">
                <a:latin typeface="Times New Roman" panose="02020603050405020304" pitchFamily="18" charset="0"/>
                <a:cs typeface="Times New Roman" panose="02020603050405020304" pitchFamily="18" charset="0"/>
              </a:rPr>
              <a:t>Credit Access (p = 0.711) → Credit availability does not influence IPM adoption significantly</a:t>
            </a:r>
            <a:r>
              <a:rPr lang="en-US" sz="1800" dirty="0" smtClean="0">
                <a:latin typeface="Times New Roman" panose="02020603050405020304" pitchFamily="18" charset="0"/>
                <a:cs typeface="Times New Roman" panose="02020603050405020304" pitchFamily="18" charset="0"/>
              </a:rPr>
              <a:t>. This is because the p&gt; 0.05</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Cooperative Membership (p = 0.345) → Being in a cooperative does not necessarily lead to higher adoption</a:t>
            </a:r>
            <a:r>
              <a:rPr lang="en-US" sz="1800" dirty="0" smtClean="0">
                <a:latin typeface="Times New Roman" panose="02020603050405020304" pitchFamily="18" charset="0"/>
                <a:cs typeface="Times New Roman" panose="02020603050405020304" pitchFamily="18" charset="0"/>
              </a:rPr>
              <a:t>. The p&gt; 0.05 shows that it is not significant.</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7660" y="1399309"/>
            <a:ext cx="7704667" cy="6456219"/>
          </a:xfrm>
        </p:spPr>
        <p:txBody>
          <a:bodyPr>
            <a:normAutofit/>
          </a:bodyPr>
          <a:lstStyle/>
          <a:p>
            <a:pPr marL="0" indent="0">
              <a:buNone/>
            </a:pPr>
            <a:r>
              <a:rPr lang="en-US" sz="1800" dirty="0" smtClean="0">
                <a:latin typeface="Times New Roman" panose="02020603050405020304" pitchFamily="18" charset="0"/>
                <a:cs typeface="Times New Roman" panose="02020603050405020304" pitchFamily="18" charset="0"/>
              </a:rPr>
              <a:t>Objective 2</a:t>
            </a:r>
          </a:p>
          <a:p>
            <a:pPr marL="0" indent="0">
              <a:buNone/>
            </a:pPr>
            <a:r>
              <a:rPr lang="en-US" sz="1800" dirty="0" smtClean="0">
                <a:latin typeface="Times New Roman" panose="02020603050405020304" pitchFamily="18" charset="0"/>
                <a:cs typeface="Times New Roman" panose="02020603050405020304" pitchFamily="18" charset="0"/>
              </a:rPr>
              <a:t>Significant variables: </a:t>
            </a:r>
          </a:p>
          <a:p>
            <a:pPr marL="0" indent="0" algn="just">
              <a:buNone/>
            </a:pPr>
            <a:r>
              <a:rPr lang="en-US" sz="1800" dirty="0" smtClean="0">
                <a:latin typeface="Times New Roman" panose="02020603050405020304" pitchFamily="18" charset="0"/>
                <a:cs typeface="Times New Roman" panose="02020603050405020304" pitchFamily="18" charset="0"/>
              </a:rPr>
              <a:t>Awareness of IPM: Has a strong positive influence (coefficient=2.5472, p&lt;0.0001). Higher awareness greatly increases IPM adoption. This implies the need educational campaigns and farmer sensitization. </a:t>
            </a:r>
          </a:p>
          <a:p>
            <a:pPr marL="0" indent="0" algn="just">
              <a:buNone/>
            </a:pPr>
            <a:r>
              <a:rPr lang="en-US" sz="1800" dirty="0" smtClean="0">
                <a:latin typeface="Times New Roman" panose="02020603050405020304" pitchFamily="18" charset="0"/>
                <a:cs typeface="Times New Roman" panose="02020603050405020304" pitchFamily="18" charset="0"/>
              </a:rPr>
              <a:t>Farmer income: Had a positive and significant effect (coefficient=0.0000211, p&lt;0.001). Farmers with higher income were more likely to adopt IPM than those with low income. It indicates that income support can boost adoption.</a:t>
            </a:r>
          </a:p>
          <a:p>
            <a:pPr marL="0" indent="0" algn="just">
              <a:buNone/>
            </a:pPr>
            <a:r>
              <a:rPr lang="en-US" sz="1800" dirty="0" smtClean="0">
                <a:latin typeface="Times New Roman" panose="02020603050405020304" pitchFamily="18" charset="0"/>
                <a:cs typeface="Times New Roman" panose="02020603050405020304" pitchFamily="18" charset="0"/>
              </a:rPr>
              <a:t>Extension visits: Had a positive and significant effect (coefficient=0.4694, p&lt;0.009). More frequent visits and extension services would increase likelihood of adoption. This finding highlights the importance of active and regular farmer outreach.</a:t>
            </a:r>
          </a:p>
          <a:p>
            <a:pPr marL="0" indent="0" algn="just">
              <a:buNone/>
            </a:pPr>
            <a:r>
              <a:rPr lang="en-US" sz="1800" dirty="0" smtClean="0">
                <a:latin typeface="Times New Roman" panose="02020603050405020304" pitchFamily="18" charset="0"/>
                <a:cs typeface="Times New Roman" panose="02020603050405020304" pitchFamily="18" charset="0"/>
              </a:rPr>
              <a:t>Non-significant variables:</a:t>
            </a:r>
          </a:p>
          <a:p>
            <a:pPr marL="0" indent="0" algn="just">
              <a:buNone/>
            </a:pPr>
            <a:r>
              <a:rPr lang="en-US" sz="1800" dirty="0" smtClean="0">
                <a:latin typeface="Times New Roman" panose="02020603050405020304" pitchFamily="18" charset="0"/>
                <a:cs typeface="Times New Roman" panose="02020603050405020304" pitchFamily="18" charset="0"/>
              </a:rPr>
              <a:t>Access to credit: (coefficient=0.1196, p=0.711). Credit alone does not lead to higher adoption. Credit must be targeted towards IPM investment and supported with training.</a:t>
            </a:r>
          </a:p>
          <a:p>
            <a:pPr marL="0" indent="0" algn="just">
              <a:buNone/>
            </a:pPr>
            <a:r>
              <a:rPr lang="en-US" sz="1800" dirty="0" smtClean="0">
                <a:latin typeface="Times New Roman" panose="02020603050405020304" pitchFamily="18" charset="0"/>
                <a:cs typeface="Times New Roman" panose="02020603050405020304" pitchFamily="18" charset="0"/>
              </a:rPr>
              <a:t>Cooperative membership: (coefficient=0.2233, p=0.345). Membership alone does not affect adoption. Cooperatives may need to focus more on IPM training and awareness in order to raise the adoption levels of IPM practices. </a:t>
            </a:r>
          </a:p>
          <a:p>
            <a:pPr marL="0" indent="0" algn="just">
              <a:buNone/>
            </a:pPr>
            <a:endParaRPr lang="en-US" sz="1600" dirty="0" smtClean="0">
              <a:latin typeface="Times New Roman" panose="02020603050405020304" pitchFamily="18" charset="0"/>
              <a:cs typeface="Times New Roman" panose="02020603050405020304" pitchFamily="18" charset="0"/>
            </a:endParaRPr>
          </a:p>
          <a:p>
            <a:pPr marL="0" indent="0">
              <a:buNone/>
            </a:pPr>
            <a:endParaRPr lang="en-US" sz="1800" dirty="0" smtClean="0">
              <a:latin typeface="Times New Roman" panose="02020603050405020304" pitchFamily="18" charset="0"/>
              <a:cs typeface="Times New Roman" panose="02020603050405020304" pitchFamily="18" charset="0"/>
            </a:endParaRPr>
          </a:p>
          <a:p>
            <a:pPr marL="0" indent="0">
              <a:buNone/>
            </a:pPr>
            <a:endParaRPr lang="en-US" sz="1800" dirty="0" smtClean="0">
              <a:latin typeface="Times New Roman" panose="02020603050405020304" pitchFamily="18" charset="0"/>
              <a:cs typeface="Times New Roman" panose="02020603050405020304" pitchFamily="18" charset="0"/>
            </a:endParaRPr>
          </a:p>
          <a:p>
            <a:pPr marL="0" indent="0">
              <a:buNone/>
            </a:pPr>
            <a:endParaRPr lang="en-US" sz="1800" dirty="0" smtClean="0">
              <a:latin typeface="Times New Roman" panose="02020603050405020304" pitchFamily="18" charset="0"/>
              <a:cs typeface="Times New Roman" panose="02020603050405020304" pitchFamily="18" charset="0"/>
            </a:endParaRPr>
          </a:p>
          <a:p>
            <a:endParaRPr lang="en-US" sz="1800" dirty="0" smtClean="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8334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3164" y="138545"/>
            <a:ext cx="6996545" cy="720437"/>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Hypothesis Testing</a:t>
            </a:r>
            <a:br>
              <a:rPr lang="en-US" b="1" dirty="0" smtClean="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0" y="-25315"/>
            <a:ext cx="914400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201840132"/>
              </p:ext>
            </p:extLst>
          </p:nvPr>
        </p:nvGraphicFramePr>
        <p:xfrm>
          <a:off x="1136073" y="646375"/>
          <a:ext cx="7704138" cy="2198088"/>
        </p:xfrm>
        <a:graphic>
          <a:graphicData uri="http://schemas.openxmlformats.org/drawingml/2006/table">
            <a:tbl>
              <a:tblPr/>
              <a:tblGrid>
                <a:gridCol w="2568046">
                  <a:extLst>
                    <a:ext uri="{9D8B030D-6E8A-4147-A177-3AD203B41FA5}">
                      <a16:colId xmlns:a16="http://schemas.microsoft.com/office/drawing/2014/main" val="991341619"/>
                    </a:ext>
                  </a:extLst>
                </a:gridCol>
                <a:gridCol w="2568046">
                  <a:extLst>
                    <a:ext uri="{9D8B030D-6E8A-4147-A177-3AD203B41FA5}">
                      <a16:colId xmlns:a16="http://schemas.microsoft.com/office/drawing/2014/main" val="1045446570"/>
                    </a:ext>
                  </a:extLst>
                </a:gridCol>
                <a:gridCol w="2568046">
                  <a:extLst>
                    <a:ext uri="{9D8B030D-6E8A-4147-A177-3AD203B41FA5}">
                      <a16:colId xmlns:a16="http://schemas.microsoft.com/office/drawing/2014/main" val="63673646"/>
                    </a:ext>
                  </a:extLst>
                </a:gridCol>
              </a:tblGrid>
              <a:tr h="279682">
                <a:tc>
                  <a:txBody>
                    <a:bodyPr/>
                    <a:lstStyle/>
                    <a:p>
                      <a:r>
                        <a:rPr lang="en-US" sz="1400" b="1" dirty="0">
                          <a:latin typeface="Times New Roman" panose="02020603050405020304" pitchFamily="18" charset="0"/>
                          <a:cs typeface="Times New Roman" panose="02020603050405020304" pitchFamily="18" charset="0"/>
                        </a:rPr>
                        <a:t>Variable</a:t>
                      </a:r>
                      <a:endParaRPr lang="en-US"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p-value</a:t>
                      </a:r>
                      <a:endParaRPr lang="en-US" sz="140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Decision</a:t>
                      </a:r>
                      <a:endParaRPr lang="en-US" sz="140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extLst>
                  <a:ext uri="{0D108BD9-81ED-4DB2-BD59-A6C34878D82A}">
                    <a16:rowId xmlns:a16="http://schemas.microsoft.com/office/drawing/2014/main" val="885570426"/>
                  </a:ext>
                </a:extLst>
              </a:tr>
              <a:tr h="279682">
                <a:tc>
                  <a:txBody>
                    <a:bodyPr/>
                    <a:lstStyle/>
                    <a:p>
                      <a:r>
                        <a:rPr lang="en-US" sz="1400" dirty="0">
                          <a:latin typeface="Times New Roman" panose="02020603050405020304" pitchFamily="18" charset="0"/>
                          <a:cs typeface="Times New Roman" panose="02020603050405020304" pitchFamily="18" charset="0"/>
                        </a:rPr>
                        <a:t>Awareness of IPM</a:t>
                      </a: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0.000</a:t>
                      </a:r>
                    </a:p>
                  </a:txBody>
                  <a:tcPr anchor="ctr">
                    <a:lnL>
                      <a:noFill/>
                    </a:lnL>
                    <a:lnR>
                      <a:noFill/>
                    </a:lnR>
                    <a:lnT>
                      <a:noFill/>
                    </a:lnT>
                    <a:lnB>
                      <a:noFill/>
                    </a:lnB>
                  </a:tcPr>
                </a:tc>
                <a:tc>
                  <a:txBody>
                    <a:bodyPr/>
                    <a:lstStyle/>
                    <a:p>
                      <a:r>
                        <a:rPr lang="en-US" sz="1400">
                          <a:latin typeface="Times New Roman" panose="02020603050405020304" pitchFamily="18" charset="0"/>
                          <a:cs typeface="Times New Roman" panose="02020603050405020304" pitchFamily="18" charset="0"/>
                        </a:rPr>
                        <a:t>Reject H₀ – significant</a:t>
                      </a:r>
                    </a:p>
                  </a:txBody>
                  <a:tcPr anchor="ctr">
                    <a:lnL>
                      <a:noFill/>
                    </a:lnL>
                    <a:lnR>
                      <a:noFill/>
                    </a:lnR>
                    <a:lnT>
                      <a:noFill/>
                    </a:lnT>
                    <a:lnB>
                      <a:noFill/>
                    </a:lnB>
                  </a:tcPr>
                </a:tc>
                <a:extLst>
                  <a:ext uri="{0D108BD9-81ED-4DB2-BD59-A6C34878D82A}">
                    <a16:rowId xmlns:a16="http://schemas.microsoft.com/office/drawing/2014/main" val="3945196295"/>
                  </a:ext>
                </a:extLst>
              </a:tr>
              <a:tr h="279682">
                <a:tc>
                  <a:txBody>
                    <a:bodyPr/>
                    <a:lstStyle/>
                    <a:p>
                      <a:r>
                        <a:rPr lang="en-US" sz="1400" dirty="0">
                          <a:latin typeface="Times New Roman" panose="02020603050405020304" pitchFamily="18" charset="0"/>
                          <a:cs typeface="Times New Roman" panose="02020603050405020304" pitchFamily="18" charset="0"/>
                        </a:rPr>
                        <a:t>Farm Income</a:t>
                      </a: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0.000</a:t>
                      </a:r>
                    </a:p>
                  </a:txBody>
                  <a:tcPr anchor="ctr">
                    <a:lnL>
                      <a:noFill/>
                    </a:lnL>
                    <a:lnR>
                      <a:noFill/>
                    </a:lnR>
                    <a:lnT>
                      <a:noFill/>
                    </a:lnT>
                    <a:lnB>
                      <a:noFill/>
                    </a:lnB>
                  </a:tcPr>
                </a:tc>
                <a:tc>
                  <a:txBody>
                    <a:bodyPr/>
                    <a:lstStyle/>
                    <a:p>
                      <a:r>
                        <a:rPr lang="en-US" sz="1400">
                          <a:latin typeface="Times New Roman" panose="02020603050405020304" pitchFamily="18" charset="0"/>
                          <a:cs typeface="Times New Roman" panose="02020603050405020304" pitchFamily="18" charset="0"/>
                        </a:rPr>
                        <a:t>Reject H₀ – significant</a:t>
                      </a:r>
                    </a:p>
                  </a:txBody>
                  <a:tcPr anchor="ctr">
                    <a:lnL>
                      <a:noFill/>
                    </a:lnL>
                    <a:lnR>
                      <a:noFill/>
                    </a:lnR>
                    <a:lnT>
                      <a:noFill/>
                    </a:lnT>
                    <a:lnB>
                      <a:noFill/>
                    </a:lnB>
                  </a:tcPr>
                </a:tc>
                <a:extLst>
                  <a:ext uri="{0D108BD9-81ED-4DB2-BD59-A6C34878D82A}">
                    <a16:rowId xmlns:a16="http://schemas.microsoft.com/office/drawing/2014/main" val="2969814195"/>
                  </a:ext>
                </a:extLst>
              </a:tr>
              <a:tr h="279682">
                <a:tc>
                  <a:txBody>
                    <a:bodyPr/>
                    <a:lstStyle/>
                    <a:p>
                      <a:r>
                        <a:rPr lang="en-US" sz="1400">
                          <a:latin typeface="Times New Roman" panose="02020603050405020304" pitchFamily="18" charset="0"/>
                          <a:cs typeface="Times New Roman" panose="02020603050405020304" pitchFamily="18" charset="0"/>
                        </a:rPr>
                        <a:t>Frequency of Extension</a:t>
                      </a: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0.009</a:t>
                      </a:r>
                    </a:p>
                  </a:txBody>
                  <a:tcPr anchor="ctr">
                    <a:lnL>
                      <a:noFill/>
                    </a:lnL>
                    <a:lnR>
                      <a:noFill/>
                    </a:lnR>
                    <a:lnT>
                      <a:noFill/>
                    </a:lnT>
                    <a:lnB>
                      <a:noFill/>
                    </a:lnB>
                  </a:tcPr>
                </a:tc>
                <a:tc>
                  <a:txBody>
                    <a:bodyPr/>
                    <a:lstStyle/>
                    <a:p>
                      <a:r>
                        <a:rPr lang="en-US" sz="1400">
                          <a:latin typeface="Times New Roman" panose="02020603050405020304" pitchFamily="18" charset="0"/>
                          <a:cs typeface="Times New Roman" panose="02020603050405020304" pitchFamily="18" charset="0"/>
                        </a:rPr>
                        <a:t>Reject H₀ – significant</a:t>
                      </a:r>
                    </a:p>
                  </a:txBody>
                  <a:tcPr anchor="ctr">
                    <a:lnL>
                      <a:noFill/>
                    </a:lnL>
                    <a:lnR>
                      <a:noFill/>
                    </a:lnR>
                    <a:lnT>
                      <a:noFill/>
                    </a:lnT>
                    <a:lnB>
                      <a:noFill/>
                    </a:lnB>
                  </a:tcPr>
                </a:tc>
                <a:extLst>
                  <a:ext uri="{0D108BD9-81ED-4DB2-BD59-A6C34878D82A}">
                    <a16:rowId xmlns:a16="http://schemas.microsoft.com/office/drawing/2014/main" val="408542439"/>
                  </a:ext>
                </a:extLst>
              </a:tr>
              <a:tr h="489444">
                <a:tc>
                  <a:txBody>
                    <a:bodyPr/>
                    <a:lstStyle/>
                    <a:p>
                      <a:r>
                        <a:rPr lang="en-US" sz="1400" dirty="0">
                          <a:latin typeface="Times New Roman" panose="02020603050405020304" pitchFamily="18" charset="0"/>
                          <a:cs typeface="Times New Roman" panose="02020603050405020304" pitchFamily="18" charset="0"/>
                        </a:rPr>
                        <a:t>Credit Access</a:t>
                      </a: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0.711</a:t>
                      </a: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Fail to reject H₀ – not significant</a:t>
                      </a:r>
                    </a:p>
                  </a:txBody>
                  <a:tcPr anchor="ctr">
                    <a:lnL>
                      <a:noFill/>
                    </a:lnL>
                    <a:lnR>
                      <a:noFill/>
                    </a:lnR>
                    <a:lnT>
                      <a:noFill/>
                    </a:lnT>
                    <a:lnB>
                      <a:noFill/>
                    </a:lnB>
                  </a:tcPr>
                </a:tc>
                <a:extLst>
                  <a:ext uri="{0D108BD9-81ED-4DB2-BD59-A6C34878D82A}">
                    <a16:rowId xmlns:a16="http://schemas.microsoft.com/office/drawing/2014/main" val="3657218816"/>
                  </a:ext>
                </a:extLst>
              </a:tr>
              <a:tr h="489444">
                <a:tc>
                  <a:txBody>
                    <a:bodyPr/>
                    <a:lstStyle/>
                    <a:p>
                      <a:r>
                        <a:rPr lang="en-US" sz="1400">
                          <a:latin typeface="Times New Roman" panose="02020603050405020304" pitchFamily="18" charset="0"/>
                          <a:cs typeface="Times New Roman" panose="02020603050405020304" pitchFamily="18" charset="0"/>
                        </a:rPr>
                        <a:t>Cooperative Membership</a:t>
                      </a:r>
                    </a:p>
                  </a:txBody>
                  <a:tcPr anchor="ctr">
                    <a:lnL>
                      <a:noFill/>
                    </a:lnL>
                    <a:lnR>
                      <a:noFill/>
                    </a:lnR>
                    <a:lnT>
                      <a:noFill/>
                    </a:lnT>
                    <a:lnB>
                      <a:noFill/>
                    </a:lnB>
                  </a:tcPr>
                </a:tc>
                <a:tc>
                  <a:txBody>
                    <a:bodyPr/>
                    <a:lstStyle/>
                    <a:p>
                      <a:r>
                        <a:rPr lang="en-US" sz="1400">
                          <a:latin typeface="Times New Roman" panose="02020603050405020304" pitchFamily="18" charset="0"/>
                          <a:cs typeface="Times New Roman" panose="02020603050405020304" pitchFamily="18" charset="0"/>
                        </a:rPr>
                        <a:t>0.345</a:t>
                      </a: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Fail to reject H₀ – not significant</a:t>
                      </a:r>
                    </a:p>
                  </a:txBody>
                  <a:tcPr anchor="ctr">
                    <a:lnL>
                      <a:noFill/>
                    </a:lnL>
                    <a:lnR>
                      <a:noFill/>
                    </a:lnR>
                    <a:lnT>
                      <a:noFill/>
                    </a:lnT>
                    <a:lnB>
                      <a:noFill/>
                    </a:lnB>
                  </a:tcPr>
                </a:tc>
                <a:extLst>
                  <a:ext uri="{0D108BD9-81ED-4DB2-BD59-A6C34878D82A}">
                    <a16:rowId xmlns:a16="http://schemas.microsoft.com/office/drawing/2014/main" val="256834769"/>
                  </a:ext>
                </a:extLst>
              </a:tr>
            </a:tbl>
          </a:graphicData>
        </a:graphic>
      </p:graphicFrame>
      <p:sp>
        <p:nvSpPr>
          <p:cNvPr id="7" name="Rectangle 2"/>
          <p:cNvSpPr>
            <a:spLocks noChangeArrowheads="1"/>
          </p:cNvSpPr>
          <p:nvPr/>
        </p:nvSpPr>
        <p:spPr bwMode="auto">
          <a:xfrm>
            <a:off x="1136073" y="1576473"/>
            <a:ext cx="184731"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Content Placeholder 7"/>
          <p:cNvSpPr>
            <a:spLocks noGrp="1"/>
          </p:cNvSpPr>
          <p:nvPr>
            <p:ph idx="1"/>
          </p:nvPr>
        </p:nvSpPr>
        <p:spPr>
          <a:xfrm>
            <a:off x="982133" y="3008322"/>
            <a:ext cx="7704667" cy="2991494"/>
          </a:xfrm>
        </p:spPr>
        <p:txBody>
          <a:bodyPr>
            <a:normAutofit lnSpcReduction="10000"/>
          </a:bodyPr>
          <a:lstStyle/>
          <a:p>
            <a:r>
              <a:rPr lang="en-US" sz="2200" dirty="0" smtClean="0">
                <a:latin typeface="Times New Roman" panose="02020603050405020304" pitchFamily="18" charset="0"/>
                <a:cs typeface="Times New Roman" panose="02020603050405020304" pitchFamily="18" charset="0"/>
              </a:rPr>
              <a:t>Awareness, farm income and extension services are statistically significant (p&lt;0.05) we reject the first null hypothesis. </a:t>
            </a:r>
            <a:r>
              <a:rPr lang="en-US" sz="2200" i="1" dirty="0" smtClean="0">
                <a:latin typeface="Times New Roman" panose="02020603050405020304" pitchFamily="18" charset="0"/>
                <a:cs typeface="Times New Roman" panose="02020603050405020304" pitchFamily="18" charset="0"/>
              </a:rPr>
              <a:t>There are factors significantly affecting IPM adoption.</a:t>
            </a:r>
          </a:p>
          <a:p>
            <a:r>
              <a:rPr lang="en-US" sz="2200" dirty="0" smtClean="0">
                <a:latin typeface="Times New Roman" panose="02020603050405020304" pitchFamily="18" charset="0"/>
                <a:cs typeface="Times New Roman" panose="02020603050405020304" pitchFamily="18" charset="0"/>
              </a:rPr>
              <a:t>Some institutional factors(extension visits) and socio-economic factors(income &amp; awareness) are significant therefore we reject the second null hypothesis. </a:t>
            </a:r>
            <a:r>
              <a:rPr lang="en-US" sz="2200" i="1" dirty="0" smtClean="0">
                <a:latin typeface="Times New Roman" panose="02020603050405020304" pitchFamily="18" charset="0"/>
                <a:cs typeface="Times New Roman" panose="02020603050405020304" pitchFamily="18" charset="0"/>
              </a:rPr>
              <a:t>There is a significant relationship between institutional support, socioeconomic characteristics and IPM adoption. </a:t>
            </a:r>
            <a:endParaRPr lang="en-US" sz="2200"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89809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4474" y="1"/>
            <a:ext cx="3144982" cy="858982"/>
          </a:xfrm>
        </p:spPr>
        <p:txBody>
          <a:bodyPr/>
          <a:lstStyle/>
          <a:p>
            <a:r>
              <a:rPr b="1" dirty="0">
                <a:latin typeface="Bell MT" panose="02020503060305020303" pitchFamily="18" charset="0"/>
              </a:rPr>
              <a:t>Discussion</a:t>
            </a:r>
          </a:p>
        </p:txBody>
      </p:sp>
      <p:sp>
        <p:nvSpPr>
          <p:cNvPr id="3" name="Content Placeholder 2"/>
          <p:cNvSpPr>
            <a:spLocks noGrp="1"/>
          </p:cNvSpPr>
          <p:nvPr>
            <p:ph idx="1"/>
          </p:nvPr>
        </p:nvSpPr>
        <p:spPr>
          <a:xfrm>
            <a:off x="982133" y="858983"/>
            <a:ext cx="7704667" cy="4668981"/>
          </a:xfrm>
        </p:spPr>
        <p:txBody>
          <a:bodyPr>
            <a:normAutofit fontScale="85000" lnSpcReduction="10000"/>
          </a:bodyPr>
          <a:lstStyle/>
          <a:p>
            <a:r>
              <a:rPr dirty="0">
                <a:latin typeface="Times New Roman" panose="02020603050405020304" pitchFamily="18" charset="0"/>
                <a:cs typeface="Times New Roman" panose="02020603050405020304" pitchFamily="18" charset="0"/>
              </a:rPr>
              <a:t>Awareness of IPM has the strongest influence on adoption, highlighting the need for farmer education programs.</a:t>
            </a:r>
          </a:p>
          <a:p>
            <a:r>
              <a:rPr dirty="0">
                <a:latin typeface="Times New Roman" panose="02020603050405020304" pitchFamily="18" charset="0"/>
                <a:cs typeface="Times New Roman" panose="02020603050405020304" pitchFamily="18" charset="0"/>
              </a:rPr>
              <a:t>Farm income significantly affects adoption, indicating that wealthier farmers are more willing to implement IPM.</a:t>
            </a:r>
          </a:p>
          <a:p>
            <a:r>
              <a:rPr dirty="0">
                <a:latin typeface="Times New Roman" panose="02020603050405020304" pitchFamily="18" charset="0"/>
                <a:cs typeface="Times New Roman" panose="02020603050405020304" pitchFamily="18" charset="0"/>
              </a:rPr>
              <a:t>Extension visits</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play a crucial role in adoption, emphasizing the importance of continuous farmer support and training.</a:t>
            </a:r>
          </a:p>
          <a:p>
            <a:r>
              <a:rPr dirty="0">
                <a:latin typeface="Times New Roman" panose="02020603050405020304" pitchFamily="18" charset="0"/>
                <a:cs typeface="Times New Roman" panose="02020603050405020304" pitchFamily="18" charset="0"/>
              </a:rPr>
              <a:t>Access to credit and cooperative membership were not significant, suggesting that financial incentives alone may not drive IPM adoption.</a:t>
            </a:r>
            <a:r>
              <a:rPr lang="en-US" dirty="0">
                <a:latin typeface="Times New Roman" panose="02020603050405020304" pitchFamily="18" charset="0"/>
                <a:cs typeface="Times New Roman" panose="02020603050405020304" pitchFamily="18" charset="0"/>
              </a:rPr>
              <a:t> Farmers may not be willing to risk investing their money from credit facilities on new agricultural technologies</a:t>
            </a:r>
            <a:r>
              <a:rPr lang="en-US" dirty="0" smtClean="0">
                <a:latin typeface="Times New Roman" panose="02020603050405020304" pitchFamily="18" charset="0"/>
                <a:cs typeface="Times New Roman" panose="02020603050405020304" pitchFamily="18" charset="0"/>
              </a:rPr>
              <a:t>. They often tend to use funds acquired from credit for other farm inputs and expenses or even their household expenses. This suggests that strategies to improve access to credit should go hand in hand with spreading awareness and benefits of IPM practices to farmers through methods such as extension, demonstrations etc. </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6545" y="0"/>
            <a:ext cx="3560619" cy="748145"/>
          </a:xfrm>
        </p:spPr>
        <p:txBody>
          <a:bodyPr/>
          <a:lstStyle/>
          <a:p>
            <a:r>
              <a:rPr b="1" dirty="0">
                <a:latin typeface="Bell MT" panose="02020503060305020303" pitchFamily="18" charset="0"/>
                <a:cs typeface="Times New Roman" panose="02020603050405020304" pitchFamily="18" charset="0"/>
              </a:rPr>
              <a:t>Conclusion</a:t>
            </a:r>
          </a:p>
        </p:txBody>
      </p:sp>
      <p:sp>
        <p:nvSpPr>
          <p:cNvPr id="3" name="Content Placeholder 2"/>
          <p:cNvSpPr>
            <a:spLocks noGrp="1"/>
          </p:cNvSpPr>
          <p:nvPr>
            <p:ph idx="1"/>
          </p:nvPr>
        </p:nvSpPr>
        <p:spPr>
          <a:xfrm>
            <a:off x="982133" y="748144"/>
            <a:ext cx="7704667" cy="6109855"/>
          </a:xfrm>
        </p:spPr>
        <p:txBody>
          <a:bodyPr/>
          <a:lstStyle/>
          <a:p>
            <a:r>
              <a:rPr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Awareness, extension services, and farm income are key determinants of IPM adoption.</a:t>
            </a:r>
          </a:p>
          <a:p>
            <a:r>
              <a:rPr sz="2000" dirty="0">
                <a:latin typeface="Times New Roman" panose="02020603050405020304" pitchFamily="18" charset="0"/>
                <a:cs typeface="Times New Roman" panose="02020603050405020304" pitchFamily="18" charset="0"/>
              </a:rPr>
              <a:t>Credit access and cooperative membership do not significantly impact adoption levels.</a:t>
            </a:r>
          </a:p>
          <a:p>
            <a:r>
              <a:rPr sz="2000" dirty="0">
                <a:latin typeface="Times New Roman" panose="02020603050405020304" pitchFamily="18" charset="0"/>
                <a:cs typeface="Times New Roman" panose="02020603050405020304" pitchFamily="18" charset="0"/>
              </a:rPr>
              <a:t>More efforts are needed to promote awareness, strengthen extension services, and support lower-income farmers.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Adoption of IPM is Still Low</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61.6% of farmers have not adopted IPM, while only 5.2% have fully adopted it.</a:t>
            </a:r>
          </a:p>
          <a:p>
            <a:r>
              <a:rPr lang="en-US" sz="2000" dirty="0">
                <a:latin typeface="Times New Roman" panose="02020603050405020304" pitchFamily="18" charset="0"/>
                <a:cs typeface="Times New Roman" panose="02020603050405020304" pitchFamily="18" charset="0"/>
              </a:rPr>
              <a:t>Limited awareness and financial constraints contribute to the low adoption rates.</a:t>
            </a:r>
          </a:p>
          <a:p>
            <a:r>
              <a:rPr lang="en-US" sz="2000" dirty="0">
                <a:latin typeface="Times New Roman" panose="02020603050405020304" pitchFamily="18" charset="0"/>
                <a:cs typeface="Times New Roman" panose="02020603050405020304" pitchFamily="18" charset="0"/>
              </a:rPr>
              <a:t>Addressing awareness and extension gaps can significantly improve sustainable tea farming practices in Kiambaa Sub-County.</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0691" y="96982"/>
            <a:ext cx="4294909" cy="595745"/>
          </a:xfrm>
        </p:spPr>
        <p:txBody>
          <a:bodyPr>
            <a:noAutofit/>
          </a:bodyPr>
          <a:lstStyle/>
          <a:p>
            <a:r>
              <a:rPr b="1" dirty="0">
                <a:latin typeface="Bell MT" panose="02020503060305020303" pitchFamily="18" charset="0"/>
              </a:rPr>
              <a:t>Recommendations</a:t>
            </a:r>
          </a:p>
        </p:txBody>
      </p:sp>
      <p:sp>
        <p:nvSpPr>
          <p:cNvPr id="3" name="Content Placeholder 2"/>
          <p:cNvSpPr>
            <a:spLocks noGrp="1"/>
          </p:cNvSpPr>
          <p:nvPr>
            <p:ph idx="1"/>
          </p:nvPr>
        </p:nvSpPr>
        <p:spPr>
          <a:xfrm>
            <a:off x="982133" y="845127"/>
            <a:ext cx="7704667" cy="5154689"/>
          </a:xfrm>
        </p:spPr>
        <p:txBody>
          <a:bodyPr>
            <a:normAutofit/>
          </a:bodyPr>
          <a:lstStyle/>
          <a:p>
            <a:r>
              <a:rPr dirty="0">
                <a:latin typeface="Times New Roman" panose="02020603050405020304" pitchFamily="18" charset="0"/>
                <a:cs typeface="Times New Roman" panose="02020603050405020304" pitchFamily="18" charset="0"/>
              </a:rPr>
              <a:t>1. Enhance Extension Services</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Increase training and outreach programs to improve farmer knowledge of IPM.</a:t>
            </a:r>
          </a:p>
          <a:p>
            <a:r>
              <a:rPr dirty="0">
                <a:latin typeface="Times New Roman" panose="02020603050405020304" pitchFamily="18" charset="0"/>
                <a:cs typeface="Times New Roman" panose="02020603050405020304" pitchFamily="18" charset="0"/>
              </a:rPr>
              <a:t>2. Raise Awareness:</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Conduct workshops, demonstrations, and information campaigns to promote IPM adoption.</a:t>
            </a:r>
          </a:p>
          <a:p>
            <a:r>
              <a:rPr dirty="0">
                <a:latin typeface="Times New Roman" panose="02020603050405020304" pitchFamily="18" charset="0"/>
                <a:cs typeface="Times New Roman" panose="02020603050405020304" pitchFamily="18" charset="0"/>
              </a:rPr>
              <a:t>3. Improve Access to Credit:</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Develop tailored financial support programs that encourage investment in IPM.</a:t>
            </a:r>
          </a:p>
          <a:p>
            <a:r>
              <a:rPr dirty="0">
                <a:latin typeface="Times New Roman" panose="02020603050405020304" pitchFamily="18" charset="0"/>
                <a:cs typeface="Times New Roman" panose="02020603050405020304" pitchFamily="18" charset="0"/>
              </a:rPr>
              <a:t>4. Strengthen Farmer Cooperatives: Encourage cooperatives to integrate IPM training and resource-sharing initiatives.</a:t>
            </a:r>
          </a:p>
          <a:p>
            <a:r>
              <a:rPr dirty="0">
                <a:latin typeface="Times New Roman" panose="02020603050405020304" pitchFamily="18" charset="0"/>
                <a:cs typeface="Times New Roman" panose="02020603050405020304" pitchFamily="18" charset="0"/>
              </a:rPr>
              <a:t>5. Government Support: Implement policies and incentives to promote sustainable pest management strategies.</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3.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4.xml><?xml version="1.0" encoding="utf-8"?>
<a:theme xmlns:a="http://schemas.openxmlformats.org/drawingml/2006/main" name="1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807</TotalTime>
  <Words>1463</Words>
  <Application>Microsoft Office PowerPoint</Application>
  <PresentationFormat>On-screen Show (4:3)</PresentationFormat>
  <Paragraphs>218</Paragraphs>
  <Slides>15</Slides>
  <Notes>1</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15</vt:i4>
      </vt:variant>
    </vt:vector>
  </HeadingPairs>
  <TitlesOfParts>
    <vt:vector size="25" baseType="lpstr">
      <vt:lpstr>Arial</vt:lpstr>
      <vt:lpstr>Bell MT</vt:lpstr>
      <vt:lpstr>Calibri</vt:lpstr>
      <vt:lpstr>Calibri Light</vt:lpstr>
      <vt:lpstr>Corbel</vt:lpstr>
      <vt:lpstr>Times New Roman</vt:lpstr>
      <vt:lpstr>Office Theme</vt:lpstr>
      <vt:lpstr>Parallax</vt:lpstr>
      <vt:lpstr>Retrospect</vt:lpstr>
      <vt:lpstr>1_Retrospect</vt:lpstr>
      <vt:lpstr>Assessing the Adoption of Integrated Pest Management Strategies Among Smallholder Tea Farmers in Kiambaa Sub County</vt:lpstr>
      <vt:lpstr>Introduction</vt:lpstr>
      <vt:lpstr>Integrated Pest Management practices</vt:lpstr>
      <vt:lpstr>Problem Statement</vt:lpstr>
      <vt:lpstr>Objectives of the Study</vt:lpstr>
      <vt:lpstr>Research Hypotheses</vt:lpstr>
      <vt:lpstr>Conceptual Framework</vt:lpstr>
      <vt:lpstr>Methodology</vt:lpstr>
      <vt:lpstr>Results</vt:lpstr>
      <vt:lpstr>Key Findings</vt:lpstr>
      <vt:lpstr>PowerPoint Presentation</vt:lpstr>
      <vt:lpstr>Hypothesis Testing </vt:lpstr>
      <vt:lpstr>Discussion</vt:lpstr>
      <vt:lpstr>Conclusion</vt:lpstr>
      <vt:lpstr>Recommendations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Assessing the Adoption of Integrated Pest Management Strategies Among Smallholder Tea Farmers in Kiambaa Sub County</dc:title>
  <dc:subject/>
  <dc:creator>LENOVO</dc:creator>
  <cp:keywords/>
  <dc:description>generated using python-pptx</dc:description>
  <cp:lastModifiedBy>LENOVO</cp:lastModifiedBy>
  <cp:revision>50</cp:revision>
  <dcterms:created xsi:type="dcterms:W3CDTF">2013-01-27T09:14:16Z</dcterms:created>
  <dcterms:modified xsi:type="dcterms:W3CDTF">2025-05-08T04:40:48Z</dcterms:modified>
  <cp:category/>
</cp:coreProperties>
</file>